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6E"/>
                </a:solidFill>
                <a:latin typeface="Segoe UI"/>
              </a:rP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D"/>
                </a:solidFill>
                <a:latin typeface="Segoe UI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Judge link: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Who: </a:t>
            </a:r>
            <a:r>
              <a:rPr sz="1500" b="0">
                <a:solidFill>
                  <a:srgbClr val="33415C"/>
                </a:solidFill>
                <a:latin typeface="Segoe UI"/>
              </a:rPr>
              <a:t>a retail bank customer. Phone rings: “This is your bank's verification desk about a transaction of ₹86,499 on your card, above your limit.”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The moment someone tries to fool them: </a:t>
            </a:r>
            <a:r>
              <a:rPr sz="1500" b="0">
                <a:solidFill>
                  <a:srgbClr val="33415C"/>
                </a:solidFill>
                <a:latin typeface="Segoe UI"/>
              </a:rPr>
              <a:t>the “bank agent” on the line is an imposter — a live-cloned voice that sounds exactly like the real bank assistant, walking the customer into approving the payment or reading an OTP.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Why now: </a:t>
            </a:r>
            <a:r>
              <a:rPr sz="1500" b="0">
                <a:solidFill>
                  <a:srgbClr val="33415C"/>
                </a:solidFill>
                <a:latin typeface="Segoe UI"/>
              </a:rPr>
              <a:t>voice AI makes convincing real-time clones cheap; caller ID is spoofable, “the bank never asks for X” advice fails when the caller sounds like the bank. The customer has </a:t>
            </a:r>
            <a:r>
              <a:rPr sz="1500" b="1">
                <a:solidFill>
                  <a:srgbClr val="0F1B2D"/>
                </a:solidFill>
                <a:latin typeface="Segoe UI"/>
              </a:rPr>
              <a:t>no way to verify who is speaking</a:t>
            </a:r>
            <a:r>
              <a:rPr sz="1500" b="0">
                <a:solidFill>
                  <a:srgbClr val="33415C"/>
                </a:solidFill>
                <a:latin typeface="Segoe UI"/>
              </a:rPr>
              <a:t>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Stakes: </a:t>
            </a:r>
            <a:r>
              <a:rPr sz="1500" b="0">
                <a:solidFill>
                  <a:srgbClr val="33415C"/>
                </a:solidFill>
                <a:latin typeface="Segoe UI"/>
              </a:rPr>
              <a:t>one approval on a high-value/suspicious transaction = money gone, and the customer did everything “right”.</a:t>
            </a:r>
          </a:p>
        </p:txBody>
      </p:sp>
      <p:pic>
        <p:nvPicPr>
          <p:cNvPr id="8" name="Picture 7" descr="badge-red-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926080"/>
            <a:ext cx="3931920" cy="8897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41605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Demo: Call 1 (above limit, genuine) → green PROCEEDS · Call 2 (suspicious, imposter hijack) → red 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6E"/>
                </a:solidFill>
                <a:latin typeface="Segoe UI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D"/>
                </a:solidFill>
                <a:latin typeface="Segoe UI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Judge link: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Verified-Agent Badge — </a:t>
            </a:r>
            <a:r>
              <a:rPr sz="1500" b="0">
                <a:solidFill>
                  <a:srgbClr val="33415C"/>
                </a:solidFill>
                <a:latin typeface="Segoe UI"/>
              </a:rPr>
              <a:t>the user side verifies the bank's agent. (Bank's own agent already authenticates us; nobody authenticates it.)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33415C"/>
                </a:solidFill>
                <a:latin typeface="Segoe UI"/>
              </a:rPr>
              <a:t>The customer's side runs an AI agent that checks </a:t>
            </a:r>
            <a:r>
              <a:rPr sz="1500" b="1">
                <a:solidFill>
                  <a:srgbClr val="0F1B2D"/>
                </a:solidFill>
                <a:latin typeface="Segoe UI"/>
              </a:rPr>
              <a:t>every spoken turn</a:t>
            </a:r>
            <a:r>
              <a:rPr sz="1500" b="0">
                <a:solidFill>
                  <a:srgbClr val="33415C"/>
                </a:solidFill>
                <a:latin typeface="Segoe UI"/>
              </a:rPr>
              <a:t> of the call against the enrolled, known voice of the genuine bank assistant.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The badge drives the decision: </a:t>
            </a:r>
            <a:r>
              <a:rPr sz="1500" b="0">
                <a:solidFill>
                  <a:srgbClr val="33415C"/>
                </a:solidFill>
                <a:latin typeface="Segoe UI"/>
              </a:rPr>
              <a:t>green = conversation may proceed to the transaction step; red = transaction </a:t>
            </a:r>
            <a:r>
              <a:rPr sz="1500" b="1">
                <a:solidFill>
                  <a:srgbClr val="0F1B2D"/>
                </a:solidFill>
                <a:latin typeface="Segoe UI"/>
              </a:rPr>
              <a:t>held</a:t>
            </a:r>
            <a:r>
              <a:rPr sz="1500" b="0">
                <a:solidFill>
                  <a:srgbClr val="33415C"/>
                </a:solidFill>
                <a:latin typeface="Segoe UI"/>
              </a:rPr>
              <a:t>, customer warned, call escalated.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33415C"/>
                </a:solidFill>
                <a:latin typeface="Segoe UI"/>
              </a:rPr>
              <a:t>Two scenarios, both live in the prototype: </a:t>
            </a:r>
            <a:r>
              <a:rPr sz="1500" b="1">
                <a:solidFill>
                  <a:srgbClr val="0F1B2D"/>
                </a:solidFill>
                <a:latin typeface="Segoe UI"/>
              </a:rPr>
              <a:t>Call 1</a:t>
            </a:r>
            <a:r>
              <a:rPr sz="1500" b="0">
                <a:solidFill>
                  <a:srgbClr val="33415C"/>
                </a:solidFill>
                <a:latin typeface="Segoe UI"/>
              </a:rPr>
              <a:t> above-limit (genuine agent → PROCEEDS), </a:t>
            </a:r>
            <a:r>
              <a:rPr sz="1500" b="1">
                <a:solidFill>
                  <a:srgbClr val="0F1B2D"/>
                </a:solidFill>
                <a:latin typeface="Segoe UI"/>
              </a:rPr>
              <a:t>Call 2</a:t>
            </a:r>
            <a:r>
              <a:rPr sz="1500" b="0">
                <a:solidFill>
                  <a:srgbClr val="33415C"/>
                </a:solidFill>
                <a:latin typeface="Segoe UI"/>
              </a:rPr>
              <a:t> suspicious (imposter hijack → HELD).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33415C"/>
                </a:solidFill>
                <a:latin typeface="Segoe UI"/>
              </a:rPr>
              <a:t>Zero customer effort: verification happens automatically on their side of the line.</a:t>
            </a:r>
          </a:p>
        </p:txBody>
      </p:sp>
      <p:pic>
        <p:nvPicPr>
          <p:cNvPr id="8" name="Picture 7" descr="verdict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788920"/>
            <a:ext cx="3931920" cy="131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6E"/>
                </a:solidFill>
                <a:latin typeface="Segoe UI"/>
              </a:rP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B2D"/>
                </a:solidFill>
                <a:latin typeface="Segoe UI"/>
              </a:rPr>
              <a:t>DetectifAI (tools disclosed here per rules 5.2)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Judge link: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B2D"/>
                </a:solidFill>
                <a:latin typeface="Segoe UI"/>
              </a:rPr>
              <a:t>Both APIs, one call: </a:t>
            </a:r>
            <a:r>
              <a:rPr sz="1400" b="0">
                <a:solidFill>
                  <a:srgbClr val="33415C"/>
                </a:solidFill>
                <a:latin typeface="Segoe UI"/>
              </a:rPr>
              <a:t>DetectifAI POST /v1/speakers/verify with detect_deepfake=true → speaker verification (matches the caller against enrolled bank_agent_1) and deepfake detection (is this speech AI-generated?) per turn.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B2D"/>
                </a:solidFill>
                <a:latin typeface="Segoe UI"/>
              </a:rPr>
              <a:t>Where it sits: </a:t>
            </a:r>
            <a:r>
              <a:rPr sz="1400" b="0">
                <a:solidFill>
                  <a:srgbClr val="33415C"/>
                </a:solidFill>
                <a:latin typeface="Segoe UI"/>
              </a:rPr>
              <a:t>middle of the call flow — browser call screen → FastAPI backend → DetectifAI → badge verdict → transaction decision. Taken out of the product, the badge has nothing to stand on and the product stops existing.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B2D"/>
                </a:solidFill>
                <a:latin typeface="Segoe UI"/>
              </a:rPr>
              <a:t>The decision it drives: </a:t>
            </a:r>
            <a:r>
              <a:rPr sz="1400" b="0">
                <a:solidFill>
                  <a:srgbClr val="33415C"/>
                </a:solidFill>
                <a:latin typeface="Segoe UI"/>
              </a:rPr>
              <a:t>match + genuine → approve (PROCEEDS); no_match or synthetic → block (transaction held, warn customer).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B2D"/>
                </a:solidFill>
                <a:latin typeface="Segoe UI"/>
              </a:rPr>
              <a:t>Live results from the prototype today: </a:t>
            </a:r>
            <a:r>
              <a:rPr sz="1400" b="0">
                <a:solidFill>
                  <a:srgbClr val="33415C"/>
                </a:solidFill>
                <a:latin typeface="Segoe UI"/>
              </a:rPr>
              <a:t>genuine voice → match, similarity 0.987 (thr 0.53), deepfake real 0.008 (thr 0.62); attacker TTS → no_match, 0.151, deepfake synthetic 0.999, per-4s synthetic segments flagged.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B2D"/>
                </a:solidFill>
                <a:latin typeface="Segoe UI"/>
              </a:rPr>
              <a:t>Tools used: </a:t>
            </a:r>
            <a:r>
              <a:rPr sz="1400" b="0">
                <a:solidFill>
                  <a:srgbClr val="33415C"/>
                </a:solidFill>
                <a:latin typeface="Segoe UI"/>
              </a:rPr>
              <a:t>DetectifAI (verify + deepfake detection) · FastAPI/Python · edge-tts (team-generated attacker voice) · ffmpeg · Render · GitHub · built with an AI coding assistant (Codebuff/Claude Code).</a:t>
            </a:r>
          </a:p>
        </p:txBody>
      </p:sp>
      <p:pic>
        <p:nvPicPr>
          <p:cNvPr id="8" name="Picture 7" descr="compare-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97480"/>
            <a:ext cx="3931920" cy="1613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6E"/>
                </a:solidFill>
                <a:latin typeface="Segoe UI"/>
              </a:rP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D"/>
                </a:solidFill>
                <a:latin typeface="Segoe UI"/>
              </a:rPr>
              <a:t>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Judge link: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Who it protects: </a:t>
            </a:r>
            <a:r>
              <a:rPr sz="1500" b="0">
                <a:solidFill>
                  <a:srgbClr val="33415C"/>
                </a:solidFill>
                <a:latin typeface="Segoe UI"/>
              </a:rPr>
              <a:t>every customer on an outbound bank/NBFC/insurer verification call — the exact fraud moment DetectifAI itself was founded 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What changes: </a:t>
            </a:r>
            <a:r>
              <a:rPr sz="1500" b="0">
                <a:solidFill>
                  <a:srgbClr val="33415C"/>
                </a:solidFill>
                <a:latin typeface="Segoe UI"/>
              </a:rPr>
              <a:t>the imposter call ends </a:t>
            </a:r>
            <a:r>
              <a:rPr sz="1500" b="1">
                <a:solidFill>
                  <a:srgbClr val="0F1B2D"/>
                </a:solidFill>
                <a:latin typeface="Segoe UI"/>
              </a:rPr>
              <a:t>before</a:t>
            </a:r>
            <a:r>
              <a:rPr sz="1500" b="0">
                <a:solidFill>
                  <a:srgbClr val="33415C"/>
                </a:solidFill>
                <a:latin typeface="Segoe UI"/>
              </a:rPr>
              <a:t> the customer speaks a single secret; the genuine call gets a visible trust signal instead of anxiety.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Measured on the working prototype: </a:t>
            </a:r>
            <a:r>
              <a:rPr sz="1500" b="0">
                <a:solidFill>
                  <a:srgbClr val="33415C"/>
                </a:solidFill>
                <a:latin typeface="Segoe UI"/>
              </a:rPr>
              <a:t>~2.5 s end-to-end per spoken turn; both decisions demonstrated live (approve 0.987 vs hold on 0.999-synthetic clone); no hardware, no customer onboarding beyond voice enrollment (15–60 s).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False-alarm posture: </a:t>
            </a:r>
            <a:r>
              <a:rPr sz="1500" b="0">
                <a:solidFill>
                  <a:srgbClr val="33415C"/>
                </a:solidFill>
                <a:latin typeface="Segoe UI"/>
              </a:rPr>
              <a:t>red never locks the customer out — it steps up to an alternate verified channel (in-app confirmation), so friction is bounded.</a:t>
            </a:r>
          </a:p>
        </p:txBody>
      </p:sp>
      <p:pic>
        <p:nvPicPr>
          <p:cNvPr id="8" name="Picture 7" descr="verdict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788920"/>
            <a:ext cx="3931920" cy="12901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9F6E"/>
                </a:solidFill>
                <a:latin typeface="Segoe UI"/>
              </a:rP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D"/>
                </a:solidFill>
                <a:latin typeface="Segoe UI"/>
              </a:rPr>
              <a:t>Scale (incl. Day 2 plan)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914400" cy="457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Judge link: https://unclone-verified-agent.onrender.com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0F1B2D"/>
                </a:solidFill>
                <a:latin typeface="Segoe UI"/>
              </a:rPr>
              <a:t>Day 2 plan </a:t>
            </a:r>
            <a:r>
              <a:rPr sz="1600" b="0">
                <a:solidFill>
                  <a:srgbClr val="33415C"/>
                </a:solidFill>
                <a:latin typeface="Segoe UI"/>
              </a:rPr>
              <a:t>(nine hours, judge-gap driven):</a:t>
            </a:r>
          </a:p>
          <a:p>
            <a:pPr lvl="1">
              <a:spcAft>
                <a:spcPts val="1100"/>
              </a:spcAft>
            </a:pPr>
            <a:r>
              <a:rPr sz="1500" b="1">
                <a:solidFill>
                  <a:srgbClr val="33415C"/>
                </a:solidFill>
                <a:latin typeface="Segoe UI"/>
              </a:rPr>
              <a:t>1. Streaming deepfake check — </a:t>
            </a:r>
            <a:r>
              <a:rPr sz="1500" b="0">
                <a:solidFill>
                  <a:srgbClr val="33415C"/>
                </a:solidFill>
                <a:latin typeface="Segoe UI"/>
              </a:rPr>
              <a:t>feed the live call's audio continuously (DetectifAI's segment scoring already visualised in the UI) instead of per turn; deeper use of the API.</a:t>
            </a:r>
          </a:p>
          <a:p>
            <a:pPr lvl="1">
              <a:spcAft>
                <a:spcPts val="1100"/>
              </a:spcAft>
            </a:pPr>
            <a:r>
              <a:rPr sz="1500" b="1">
                <a:solidFill>
                  <a:srgbClr val="33415C"/>
                </a:solidFill>
                <a:latin typeface="Segoe UI"/>
              </a:rPr>
              <a:t>2. Verified-badge handshake — </a:t>
            </a:r>
            <a:r>
              <a:rPr sz="1500" b="0">
                <a:solidFill>
                  <a:srgbClr val="33415C"/>
                </a:solidFill>
                <a:latin typeface="Segoe UI"/>
              </a:rPr>
              <a:t>extend to agent-to-agent: any voice agent presents/enrolls its voice; a protocol-level “verified agent” attestation both directions.</a:t>
            </a:r>
          </a:p>
          <a:p>
            <a:pPr lvl="1">
              <a:spcAft>
                <a:spcPts val="1100"/>
              </a:spcAft>
            </a:pPr>
            <a:r>
              <a:rPr sz="1500" b="1">
                <a:solidFill>
                  <a:srgbClr val="33415C"/>
                </a:solidFill>
                <a:latin typeface="Segoe UI"/>
              </a:rPr>
              <a:t>3. Phone channel path — </a:t>
            </a:r>
            <a:r>
              <a:rPr sz="1500" b="0">
                <a:solidFill>
                  <a:srgbClr val="33415C"/>
                </a:solidFill>
                <a:latin typeface="Segoe UI"/>
              </a:rPr>
              <a:t>bridge the same check to PSTN/WhatsApp-audio calls (audio in → same API → same badge).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0F1B2D"/>
                </a:solidFill>
                <a:latin typeface="Segoe UI"/>
              </a:rPr>
              <a:t>Scale: </a:t>
            </a:r>
            <a:r>
              <a:rPr sz="1500" b="0">
                <a:solidFill>
                  <a:srgbClr val="33415C"/>
                </a:solidFill>
                <a:latin typeface="Segoe UI"/>
              </a:rPr>
              <a:t>per-turn check costs 50+50 credits and ~2.5 s today — cheap enough to run on every suspicious transaction; enrollment reuses banks' existing voice-consent flows; the badge client is one API wrapper any call surface can embed.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B2D"/>
                </a:solidFill>
                <a:latin typeface="Segoe UI"/>
              </a:rPr>
              <a:t>Demo link (no login): </a:t>
            </a:r>
            <a:r>
              <a:rPr sz="1700" b="1">
                <a:solidFill>
                  <a:srgbClr val="0E9F6E"/>
                </a:solidFill>
                <a:latin typeface="Segoe UI"/>
              </a:rPr>
              <a:t>https://unclone-verified-agent.onrender.com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