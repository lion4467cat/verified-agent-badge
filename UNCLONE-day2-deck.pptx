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The phone scam no amount of care can stop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0">
                <a:solidFill>
                  <a:srgbClr val="33415C"/>
                </a:solidFill>
                <a:latin typeface="Segoe UI"/>
              </a:rPr>
              <a:t>Your phone rings. </a:t>
            </a:r>
            <a:r>
              <a:rPr sz="1900" b="1">
                <a:solidFill>
                  <a:srgbClr val="0F1B2D"/>
                </a:solidFill>
                <a:latin typeface="Segoe UI"/>
              </a:rPr>
              <a:t>“This is your bank about a ₹86,499 payment above your limit.”</a:t>
            </a:r>
            <a:r>
              <a:rPr sz="1900" b="0">
                <a:solidFill>
                  <a:srgbClr val="33415C"/>
                </a:solidFill>
                <a:latin typeface="Segoe UI"/>
              </a:rPr>
              <a:t> Name right, details right, voice right.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voice is a </a:t>
            </a:r>
            <a:r>
              <a:rPr sz="1700" b="1">
                <a:solidFill>
                  <a:srgbClr val="0F1B2D"/>
                </a:solidFill>
                <a:latin typeface="Segoe UI"/>
              </a:rPr>
              <a:t>computer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the bank's agent. You cannot tell. Nobody can.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The old guardrails are dead: caller ID is faked, the caller knows everything, and </a:t>
            </a:r>
            <a:r>
              <a:rPr sz="1700" b="1">
                <a:solidFill>
                  <a:srgbClr val="0F1B2D"/>
                </a:solidFill>
                <a:latin typeface="Segoe UI"/>
              </a:rPr>
              <a:t>they don't need you to tell them anything</a:t>
            </a:r>
            <a:r>
              <a:rPr sz="1700" b="0">
                <a:solidFill>
                  <a:srgbClr val="33415C"/>
                </a:solidFill>
                <a:latin typeface="Segoe UI"/>
              </a:rPr>
              <a:t> — they need you to agree.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33415C"/>
                </a:solidFill>
                <a:latin typeface="Segoe UI"/>
              </a:rPr>
              <a:t>Our idea: </a:t>
            </a:r>
            <a:r>
              <a:rPr sz="1700" b="1">
                <a:solidFill>
                  <a:srgbClr val="0F1B2D"/>
                </a:solidFill>
                <a:latin typeface="Segoe UI"/>
              </a:rPr>
              <a:t>let the customer verify the caller.</a:t>
            </a:r>
            <a:r>
              <a:rPr sz="1700" b="0">
                <a:solidFill>
                  <a:srgbClr val="33415C"/>
                </a:solidFill>
                <a:latin typeface="Segoe UI"/>
              </a:rPr>
              <a:t> Nobody is on the customer's side of the call today. We 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2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A traffic light for the phone call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3415C"/>
                </a:solidFill>
                <a:latin typeface="Segoe UI"/>
              </a:rPr>
              <a:t>An app on </a:t>
            </a:r>
            <a:r>
              <a:rPr sz="1900" b="1">
                <a:solidFill>
                  <a:srgbClr val="0F1B2D"/>
                </a:solidFill>
                <a:latin typeface="Segoe UI"/>
              </a:rPr>
              <a:t>your</a:t>
            </a:r>
            <a:r>
              <a:rPr sz="1900" b="0">
                <a:solidFill>
                  <a:srgbClr val="33415C"/>
                </a:solidFill>
                <a:latin typeface="Segoe UI"/>
              </a:rPr>
              <a:t> side of the call listens every 6 seconds and asks one question: </a:t>
            </a:r>
            <a:r>
              <a:rPr sz="1900" b="1">
                <a:solidFill>
                  <a:srgbClr val="0F1B2D"/>
                </a:solidFill>
                <a:latin typeface="Segoe UI"/>
              </a:rPr>
              <a:t>is this the real bank agent, or a machine copying them?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3136392"/>
            <a:ext cx="292608" cy="292608"/>
          </a:xfrm>
          <a:prstGeom prst="ellipse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9F6E"/>
                </a:solidFill>
                <a:latin typeface="Segoe UI"/>
              </a:rPr>
              <a:t>GREEN · GO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Real voice, sounds human. Carry on with the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71800"/>
            <a:ext cx="352044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07992" y="3136392"/>
            <a:ext cx="292608" cy="292608"/>
          </a:xfrm>
          <a:prstGeom prst="ellipse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0328" y="3081528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C88600"/>
                </a:solidFill>
                <a:latin typeface="Segoe UI"/>
              </a:rPr>
              <a:t>AMBER · DOUBLE-CHECK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Can't be sure. Confirm the payment in the app instead.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971800"/>
            <a:ext cx="3566160" cy="1234440"/>
          </a:xfrm>
          <a:prstGeom prst="round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65592" y="3136392"/>
            <a:ext cx="292608" cy="292608"/>
          </a:xfrm>
          <a:prstGeom prst="ellipse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3081528"/>
            <a:ext cx="2880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6394B"/>
                </a:solidFill>
                <a:latin typeface="Segoe UI"/>
              </a:rPr>
              <a:t>RED · STOP</a:t>
            </a:r>
          </a:p>
          <a:p>
            <a:r>
              <a:rPr sz="1200" b="0">
                <a:solidFill>
                  <a:srgbClr val="33415C"/>
                </a:solidFill>
                <a:latin typeface="Segoe UI"/>
              </a:rPr>
              <a:t>A fake was caught. The call is cut, the payment blocked.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15C"/>
                </a:solidFill>
                <a:latin typeface="Segoe UI"/>
              </a:rPr>
              <a:t>The red light is not a warning — </a:t>
            </a:r>
            <a:r>
              <a:rPr sz="1600" b="1">
                <a:solidFill>
                  <a:srgbClr val="0F1B2D"/>
                </a:solidFill>
                <a:latin typeface="Segoe UI"/>
              </a:rPr>
              <a:t>watch the demo: the audio stops mid-sentence</a:t>
            </a:r>
            <a:r>
              <a:rPr sz="1600" b="0">
                <a:solidFill>
                  <a:srgbClr val="33415C"/>
                </a:solidFill>
                <a:latin typeface="Segoe UI"/>
              </a:rPr>
              <a:t> and the transaction flips to “payment blocked”.</a:t>
            </a:r>
          </a:p>
          <a:p>
            <a:r>
              <a:rPr sz="1400" b="0">
                <a:solidFill>
                  <a:srgbClr val="64748B"/>
                </a:solidFill>
                <a:latin typeface="Segoe UI"/>
              </a:rPr>
              <a:t>And it works on voices it has never heard: our judges can enrol their own voice and try it live.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3 · THE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DetectifAI listens in slices — that's the trick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33415C"/>
                </a:solidFill>
                <a:latin typeface="Segoe UI"/>
              </a:rPr>
              <a:t>One call = several </a:t>
            </a:r>
            <a:r>
              <a:rPr sz="1900" b="1">
                <a:solidFill>
                  <a:srgbClr val="0F1B2D"/>
                </a:solidFill>
                <a:latin typeface="Segoe UI"/>
              </a:rPr>
              <a:t>6-second slices</a:t>
            </a:r>
            <a:r>
              <a:rPr sz="1900" b="0">
                <a:solidFill>
                  <a:srgbClr val="33415C"/>
                </a:solidFill>
                <a:latin typeface="Segoe UI"/>
              </a:rPr>
              <a:t>. Every slice gets two checks: </a:t>
            </a:r>
            <a:r>
              <a:rPr sz="1900" b="1">
                <a:solidFill>
                  <a:srgbClr val="0F1B2D"/>
                </a:solidFill>
                <a:latin typeface="Segoe UI"/>
              </a:rPr>
              <a:t>voice fingerprint</a:t>
            </a:r>
            <a:r>
              <a:rPr sz="1900" b="0">
                <a:solidFill>
                  <a:srgbClr val="33415C"/>
                </a:solidFill>
                <a:latin typeface="Segoe UI"/>
              </a:rPr>
              <a:t> (is it the agent?) and </a:t>
            </a:r>
            <a:r>
              <a:rPr sz="1900" b="1">
                <a:solidFill>
                  <a:srgbClr val="0F1B2D"/>
                </a:solidFill>
                <a:latin typeface="Segoe UI"/>
              </a:rPr>
              <a:t>machine-voice check</a:t>
            </a:r>
            <a:r>
              <a:rPr sz="1900" b="0">
                <a:solidFill>
                  <a:srgbClr val="33415C"/>
                </a:solidFill>
                <a:latin typeface="Segoe UI"/>
              </a:rPr>
              <a:t> (does it sound synthetic?).</a:t>
            </a:r>
          </a:p>
          <a:p>
            <a:r>
              <a:rPr sz="1900" b="0">
                <a:solidFill>
                  <a:srgbClr val="33415C"/>
                </a:solidFill>
                <a:latin typeface="Segoe UI"/>
              </a:rPr>
              <a:t>A scammer only needs </a:t>
            </a:r>
            <a:r>
              <a:rPr sz="1900" b="1">
                <a:solidFill>
                  <a:srgbClr val="0F1B2D"/>
                </a:solidFill>
                <a:latin typeface="Segoe UI"/>
              </a:rPr>
              <a:t>3 bad seconds</a:t>
            </a:r>
            <a:r>
              <a:rPr sz="1900" b="0">
                <a:solidFill>
                  <a:srgbClr val="33415C"/>
                </a:solidFill>
                <a:latin typeface="Segoe UI"/>
              </a:rPr>
              <a:t> to steal the money — so we never average. </a:t>
            </a:r>
            <a:r>
              <a:rPr sz="1900" b="1">
                <a:solidFill>
                  <a:srgbClr val="0F1B2D"/>
                </a:solidFill>
                <a:latin typeface="Segoe UI"/>
              </a:rPr>
              <a:t>One bad slice stops the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B2D"/>
                </a:solidFill>
                <a:latin typeface="Segoe UI"/>
              </a:rPr>
              <a:t>The sneaky attack, caught (from the live demo):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904487"/>
            <a:ext cx="6547103" cy="512064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931920"/>
            <a:ext cx="1854925" cy="45720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40725" y="3931920"/>
            <a:ext cx="1854925" cy="45720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5651" y="3931920"/>
            <a:ext cx="927462" cy="457200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23114" y="3931920"/>
            <a:ext cx="927462" cy="457200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0577" y="3931920"/>
            <a:ext cx="927462" cy="457200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462272"/>
            <a:ext cx="6492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C"/>
                </a:solidFill>
                <a:latin typeface="Segoe UI"/>
              </a:rPr>
              <a:t>Fingerprint passed · overall score said “human” · but slice 3–4 of the call (9–12 s) scored 0.999 “machine” → RED.  An average-hunting system would have approved this call.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52044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B2D"/>
                </a:solidFill>
                <a:latin typeface="Segoe UI"/>
              </a:rPr>
              <a:t>Try it in 30 seconds:</a:t>
            </a:r>
          </a:p>
          <a:p>
            <a:r>
              <a:rPr sz="1500" b="0">
                <a:solidFill>
                  <a:srgbClr val="33415C"/>
                </a:solidFill>
                <a:latin typeface="Segoe UI"/>
              </a:rPr>
              <a:t>• Press Call 1 → green</a:t>
            </a:r>
          </a:p>
          <a:p>
            <a:r>
              <a:rPr sz="1500" b="0">
                <a:solidFill>
                  <a:srgbClr val="33415C"/>
                </a:solidFill>
                <a:latin typeface="Segoe UI"/>
              </a:rPr>
              <a:t>• Press Call 2 → red, call stops</a:t>
            </a:r>
          </a:p>
          <a:p>
            <a:r>
              <a:rPr sz="1500" b="0">
                <a:solidFill>
                  <a:srgbClr val="33415C"/>
                </a:solidFill>
                <a:latin typeface="Segoe UI"/>
              </a:rPr>
              <a:t>• Press the sneaky call → red from one slice</a:t>
            </a:r>
          </a:p>
          <a:p>
            <a:r>
              <a:rPr sz="1500" b="0">
                <a:solidFill>
                  <a:srgbClr val="33415C"/>
                </a:solidFill>
                <a:latin typeface="Segoe UI"/>
              </a:rPr>
              <a:t>• Enrol your own voice → try it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4 ·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What one caught call is 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6309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Loss per voice scam:  </a:t>
            </a:r>
            <a:r>
              <a:rPr sz="1800" b="0">
                <a:solidFill>
                  <a:srgbClr val="33415C"/>
                </a:solidFill>
                <a:latin typeface="Segoe UI"/>
              </a:rPr>
              <a:t>≈ </a:t>
            </a:r>
            <a:r>
              <a:rPr sz="1800" b="1">
                <a:solidFill>
                  <a:srgbClr val="0F1B2D"/>
                </a:solidFill>
                <a:latin typeface="Segoe UI"/>
              </a:rPr>
              <a:t>$5,700</a:t>
            </a:r>
            <a:r>
              <a:rPr sz="1800" b="0">
                <a:solidFill>
                  <a:srgbClr val="33415C"/>
                </a:solidFill>
                <a:latin typeface="Segoe UI"/>
              </a:rPr>
              <a:t> (≈ ₹4.8 lakh). (FTC 2024)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0F1B2D"/>
                </a:solidFill>
                <a:latin typeface="Segoe UI"/>
              </a:rPr>
              <a:t>Cost to check a risky call:  </a:t>
            </a:r>
            <a:r>
              <a:rPr sz="1800" b="0">
                <a:solidFill>
                  <a:srgbClr val="33415C"/>
                </a:solidFill>
                <a:latin typeface="Segoe UI"/>
              </a:rPr>
              <a:t>≈ </a:t>
            </a:r>
            <a:r>
              <a:rPr sz="1800" b="1">
                <a:solidFill>
                  <a:srgbClr val="0F1B2D"/>
                </a:solidFill>
                <a:latin typeface="Segoe UI"/>
              </a:rPr>
              <a:t>50 cents.</a:t>
            </a:r>
            <a:r>
              <a:rPr sz="1800" b="0">
                <a:solidFill>
                  <a:srgbClr val="33415C"/>
                </a:solidFill>
                <a:latin typeface="Segoe UI"/>
              </a:rPr>
              <a:t> The whole product story is this gap.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At one big bank scale:  </a:t>
            </a:r>
            <a:r>
              <a:rPr sz="1700" b="0">
                <a:solidFill>
                  <a:srgbClr val="33415C"/>
                </a:solidFill>
                <a:latin typeface="Segoe UI"/>
              </a:rPr>
              <a:t>≈ </a:t>
            </a:r>
            <a:r>
              <a:rPr sz="1700" b="1">
                <a:solidFill>
                  <a:srgbClr val="0F1B2D"/>
                </a:solidFill>
                <a:latin typeface="Segoe UI"/>
              </a:rPr>
              <a:t>$66 M/yr</a:t>
            </a:r>
            <a:r>
              <a:rPr sz="1700" b="0">
                <a:solidFill>
                  <a:srgbClr val="33415C"/>
                </a:solidFill>
                <a:latin typeface="Segoe UI"/>
              </a:rPr>
              <a:t> of prevented losses. That's the five-frame model: 1.56 M risky calls × 1.33 % scams × $5,700 × 80 % caught × 70 % stopped.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False alarms are cheap:  </a:t>
            </a:r>
            <a:r>
              <a:rPr sz="1700" b="0">
                <a:solidFill>
                  <a:srgbClr val="33415C"/>
                </a:solidFill>
                <a:latin typeface="Segoe UI"/>
              </a:rPr>
              <a:t>worst case, the customer confirms in the app. Nobody is ever locked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331720"/>
            <a:ext cx="4114800" cy="237744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256032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600" b="1">
                <a:solidFill>
                  <a:srgbClr val="0E9F6E"/>
                </a:solidFill>
                <a:latin typeface="Segoe UI"/>
              </a:rPr>
              <a:t>~100×</a:t>
            </a:r>
          </a:p>
          <a:p>
            <a:r>
              <a:rPr sz="1400" b="0">
                <a:solidFill>
                  <a:srgbClr val="33415C"/>
                </a:solidFill>
                <a:latin typeface="Segoe UI"/>
              </a:rPr>
              <a:t>return on the checking cost: a 50-cent check that catches a $5,700 theft.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02920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4748B"/>
                </a:solidFill>
                <a:latin typeface="Segoe UI"/>
              </a:rPr>
              <a:t>Latency: p50 &lt; 1 s per slice on the deployed build — inside the decision window.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F6E"/>
                </a:solidFill>
                <a:latin typeface="Segoe UI"/>
              </a:rPr>
              <a:t>SLIDE 5 ·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1B2D"/>
                </a:solidFill>
                <a:latin typeface="Segoe UI"/>
              </a:rPr>
              <a:t>Banks pay for it — and starting needs zero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Try it live — https://unclone-verified-agent.onrender.com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Who pays:  </a:t>
            </a:r>
            <a:r>
              <a:rPr sz="1700" b="0">
                <a:solidFill>
                  <a:srgbClr val="33415C"/>
                </a:solidFill>
                <a:latin typeface="Segoe UI"/>
              </a:rPr>
              <a:t>the bank's fraud team. A bank can't stop a </a:t>
            </a:r>
            <a:r>
              <a:rPr sz="1700" b="1">
                <a:solidFill>
                  <a:srgbClr val="0F1B2D"/>
                </a:solidFill>
                <a:latin typeface="Segoe UI"/>
              </a:rPr>
              <a:t>perfect clone</a:t>
            </a:r>
            <a:r>
              <a:rPr sz="1700" b="0">
                <a:solidFill>
                  <a:srgbClr val="33415C"/>
                </a:solidFill>
                <a:latin typeface="Segoe UI"/>
              </a:rPr>
              <a:t> from inside its own call centre — the clone is its own agent's voice. Only the </a:t>
            </a:r>
            <a:r>
              <a:rPr sz="1700" b="1">
                <a:solidFill>
                  <a:srgbClr val="0F1B2D"/>
                </a:solidFill>
                <a:latin typeface="Segoe UI"/>
              </a:rPr>
              <a:t>customer's side</a:t>
            </a:r>
            <a:r>
              <a:rPr sz="1700" b="0">
                <a:solidFill>
                  <a:srgbClr val="33415C"/>
                </a:solidFill>
                <a:latin typeface="Segoe UI"/>
              </a:rPr>
              <a:t> can.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Starting takes a day, not a dataset: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banks already record their agents for compliance. Take </a:t>
            </a:r>
            <a:r>
              <a:rPr sz="1700" b="1">
                <a:solidFill>
                  <a:srgbClr val="0F1B2D"/>
                </a:solidFill>
                <a:latin typeface="Segoe UI"/>
              </a:rPr>
              <a:t>15–60 s of that recording</a:t>
            </a:r>
            <a:r>
              <a:rPr sz="1700" b="0">
                <a:solidFill>
                  <a:srgbClr val="33415C"/>
                </a:solidFill>
                <a:latin typeface="Segoe UI"/>
              </a:rPr>
              <a:t>, enrol it — done. </a:t>
            </a:r>
            <a:r>
              <a:rPr sz="1700" b="1">
                <a:solidFill>
                  <a:srgbClr val="0F1B2D"/>
                </a:solidFill>
                <a:latin typeface="Segoe UI"/>
              </a:rPr>
              <a:t>We train nothing.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The honest scoreboard:  </a:t>
            </a:r>
            <a:r>
              <a:rPr sz="1700" b="0">
                <a:solidFill>
                  <a:srgbClr val="33415C"/>
                </a:solidFill>
                <a:latin typeface="Segoe UI"/>
              </a:rPr>
              <a:t>live now — 3 attacked calls + your own voice, every failure fails *safe* (amber, never auto-approve). Next — the phone-network version. We say which is which.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F1B2D"/>
                </a:solidFill>
                <a:latin typeface="Segoe UI"/>
              </a:rPr>
              <a:t>First pilot:  </a:t>
            </a:r>
            <a:r>
              <a:rPr sz="1700" b="0">
                <a:solidFill>
                  <a:srgbClr val="33415C"/>
                </a:solidFill>
                <a:latin typeface="Segoe UI"/>
              </a:rPr>
              <a:t>6 weeks, flagged calls only. Success = one caught scam with the full evidence log shown — then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