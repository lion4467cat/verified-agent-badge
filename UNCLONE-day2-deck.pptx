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B2D"/>
                </a:solidFill>
                <a:latin typeface="Segoe UI"/>
              </a:rPr>
              <a:t>Problem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demo: genuine → PROCEEDS · hijack → HELD · subtle hijack → HELD · silent → STEP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Who: </a:t>
            </a:r>
            <a:r>
              <a:rPr sz="1500" b="0">
                <a:solidFill>
                  <a:srgbClr val="33415C"/>
                </a:solidFill>
                <a:latin typeface="Segoe UI"/>
              </a:rPr>
              <a:t>a retail-bank customer. The phone rings: “This is your bank's verification desk about a transaction of </a:t>
            </a:r>
            <a:r>
              <a:rPr sz="1500" b="1">
                <a:solidFill>
                  <a:srgbClr val="0F1B2D"/>
                </a:solidFill>
                <a:latin typeface="Segoe UI"/>
              </a:rPr>
              <a:t>₹86,499</a:t>
            </a:r>
            <a:r>
              <a:rPr sz="1500" b="0">
                <a:solidFill>
                  <a:srgbClr val="33415C"/>
                </a:solidFill>
                <a:latin typeface="Segoe UI"/>
              </a:rPr>
              <a:t> on your card, above your limit.”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The fraud moment: </a:t>
            </a:r>
            <a:r>
              <a:rPr sz="1500" b="0">
                <a:solidFill>
                  <a:srgbClr val="33415C"/>
                </a:solidFill>
                <a:latin typeface="Segoe UI"/>
              </a:rPr>
              <a:t>the “bank agent” is an imposter — a live-cloned voice that sounds exactly like the real assistant, walking the customer into approving the payment or reading an OTP.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Why today's process fails: </a:t>
            </a:r>
            <a:r>
              <a:rPr sz="1500" b="0">
                <a:solidFill>
                  <a:srgbClr val="33415C"/>
                </a:solidFill>
                <a:latin typeface="Segoe UI"/>
              </a:rPr>
              <a:t>caller ID is spoofable, and “the bank never asks for X” collapses when the caller </a:t>
            </a:r>
            <a:r>
              <a:rPr sz="1500" b="1">
                <a:solidFill>
                  <a:srgbClr val="0F1B2D"/>
                </a:solidFill>
                <a:latin typeface="Segoe UI"/>
              </a:rPr>
              <a:t>sounds</a:t>
            </a:r>
            <a:r>
              <a:rPr sz="1500" b="0">
                <a:solidFill>
                  <a:srgbClr val="33415C"/>
                </a:solidFill>
                <a:latin typeface="Segoe UI"/>
              </a:rPr>
              <a:t> like the bank. The customer has </a:t>
            </a:r>
            <a:r>
              <a:rPr sz="1500" b="1">
                <a:solidFill>
                  <a:srgbClr val="0F1B2D"/>
                </a:solidFill>
                <a:latin typeface="Segoe UI"/>
              </a:rPr>
              <a:t>no way to verify who is speaking</a:t>
            </a:r>
            <a:r>
              <a:rPr sz="15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Unchanged from registration (rule 3.7): </a:t>
            </a:r>
            <a:r>
              <a:rPr sz="1500" b="0">
                <a:solidFill>
                  <a:srgbClr val="33415C"/>
                </a:solidFill>
                <a:latin typeface="Segoe UI"/>
              </a:rPr>
              <a:t>same user, same problem. Day 2 deepens the product; it does not move the goalposts.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415C"/>
                </a:solidFill>
                <a:latin typeface="Segoe UI"/>
              </a:rPr>
              <a:t>Day 1 judge feedback: “good problem statement” — then: </a:t>
            </a:r>
            <a:r>
              <a:rPr sz="1300" b="1">
                <a:solidFill>
                  <a:srgbClr val="0F1B2D"/>
                </a:solidFill>
                <a:latin typeface="Segoe UI"/>
              </a:rPr>
              <a:t>how will you get the dataset to train?</a:t>
            </a:r>
            <a:r>
              <a:rPr sz="1300" b="0">
                <a:solidFill>
                  <a:srgbClr val="33415C"/>
                </a:solidFill>
                <a:latin typeface="Segoe UI"/>
              </a:rPr>
              <a:t> Slide 5 answers it with the product, not with a data project.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B2D"/>
                </a:solidFill>
                <a:latin typeface="Segoe UI"/>
              </a:rPr>
              <a:t>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demo: genuine → PROCEEDS · hijack → HELD · subtle hijack → HELD · silent → STEP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Verified-Agent Badge: </a:t>
            </a:r>
            <a:r>
              <a:rPr sz="1500" b="0">
                <a:solidFill>
                  <a:srgbClr val="33415C"/>
                </a:solidFill>
                <a:latin typeface="Segoe UI"/>
              </a:rPr>
              <a:t>the user side verifies the bank's agent. The bank already authenticates us; </a:t>
            </a:r>
            <a:r>
              <a:rPr sz="1500" b="1">
                <a:solidFill>
                  <a:srgbClr val="0F1B2D"/>
                </a:solidFill>
                <a:latin typeface="Segoe UI"/>
              </a:rPr>
              <a:t>nobody authenticates it</a:t>
            </a:r>
            <a:r>
              <a:rPr sz="15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Continuous, not per-turn: </a:t>
            </a:r>
            <a:r>
              <a:rPr sz="1500" b="0">
                <a:solidFill>
                  <a:srgbClr val="33415C"/>
                </a:solidFill>
                <a:latin typeface="Segoe UI"/>
              </a:rPr>
              <a:t>DetectifAI has no streaming endpoint, so we built the windowing layer — </a:t>
            </a:r>
            <a:r>
              <a:rPr sz="1500" b="1">
                <a:solidFill>
                  <a:srgbClr val="0F1B2D"/>
                </a:solidFill>
                <a:latin typeface="Segoe UI"/>
              </a:rPr>
              <a:t>6 s windows, stitched into a 2 s risk timeline</a:t>
            </a:r>
            <a:r>
              <a:rPr sz="1500" b="0">
                <a:solidFill>
                  <a:srgbClr val="33415C"/>
                </a:solidFill>
                <a:latin typeface="Segoe UI"/>
              </a:rPr>
              <a:t>, verified live while the call plays.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One badge, three outcomes: </a:t>
            </a:r>
            <a:r>
              <a:rPr sz="1500" b="0">
                <a:solidFill>
                  <a:srgbClr val="33415C"/>
                </a:solidFill>
                <a:latin typeface="Segoe UI"/>
              </a:rPr>
              <a:t>the badge drives the transaction, and no error path can ever approve.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526280"/>
            <a:ext cx="3383280" cy="86868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4617720"/>
            <a:ext cx="316382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E9F6E"/>
                </a:solidFill>
                <a:latin typeface="Segoe UI"/>
              </a:rPr>
              <a:t>PROCEED</a:t>
            </a:r>
          </a:p>
          <a:p>
            <a:r>
              <a:rPr sz="1050" b="0">
                <a:solidFill>
                  <a:srgbClr val="33415C"/>
                </a:solidFill>
                <a:latin typeface="Segoe UI"/>
              </a:rPr>
              <a:t>voice matches with margin + every segment real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4526280"/>
            <a:ext cx="3383280" cy="86868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07408" y="4617720"/>
            <a:ext cx="316382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C88600"/>
                </a:solidFill>
                <a:latin typeface="Segoe UI"/>
              </a:rPr>
              <a:t>STEP UP</a:t>
            </a:r>
          </a:p>
          <a:p>
            <a:r>
              <a:rPr sz="1050" b="0">
                <a:solidFill>
                  <a:srgbClr val="33415C"/>
                </a:solidFill>
                <a:latin typeface="Segoe UI"/>
              </a:rPr>
              <a:t>thin, partial or unverifiable → in-app confirmation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09560" y="4526280"/>
            <a:ext cx="3566160" cy="86868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19288" y="4617720"/>
            <a:ext cx="3346704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6394B"/>
                </a:solidFill>
                <a:latin typeface="Segoe UI"/>
              </a:rPr>
              <a:t>HOLD</a:t>
            </a:r>
          </a:p>
          <a:p>
            <a:r>
              <a:rPr sz="1050" b="0">
                <a:solidFill>
                  <a:srgbClr val="33415C"/>
                </a:solidFill>
                <a:latin typeface="Segoe UI"/>
              </a:rPr>
              <a:t>mismatch or any synthetic segment → transaction blocked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532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33415C"/>
                </a:solidFill>
                <a:latin typeface="Segoe UI"/>
              </a:rPr>
              <a:t>Day 2 shipped all three Day-1 promises: </a:t>
            </a:r>
            <a:r>
              <a:rPr sz="1250" b="1">
                <a:solidFill>
                  <a:srgbClr val="0F1B2D"/>
                </a:solidFill>
                <a:latin typeface="Segoe UI"/>
              </a:rPr>
              <a:t>continuous verification · agent-to-agent handshake · aggregate-blind segment policy</a:t>
            </a:r>
            <a:r>
              <a:rPr sz="1250" b="0">
                <a:solidFill>
                  <a:srgbClr val="33415C"/>
                </a:solidFill>
                <a:latin typeface="Segoe UI"/>
              </a:rPr>
              <a:t>. Zero customer effort: 15–60 s enrollment, no app change, no hardware.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900" b="1">
                <a:solidFill>
                  <a:srgbClr val="0F1B2D"/>
                </a:solidFill>
                <a:latin typeface="Segoe UI"/>
              </a:rPr>
              <a:t>DetectifAI — the engine, not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demo: genuine → PROCEEDS · hijack → HELD · subtle hijack → HELD · silent → STEP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852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Both checks, one call: </a:t>
            </a:r>
            <a:r>
              <a:rPr sz="1300" b="0">
                <a:solidFill>
                  <a:srgbClr val="33415C"/>
                </a:solidFill>
                <a:latin typeface="Segoe UI"/>
              </a:rPr>
              <a:t>POST /v1/speakers/verify with detect_deepfake=true returns speaker verification against enrolled </a:t>
            </a:r>
            <a:r>
              <a:rPr sz="1300" b="1">
                <a:solidFill>
                  <a:srgbClr val="0F1B2D"/>
                </a:solidFill>
                <a:latin typeface="Segoe UI"/>
              </a:rPr>
              <a:t>bank_agent_1</a:t>
            </a:r>
            <a:r>
              <a:rPr sz="1300" b="0">
                <a:solidFill>
                  <a:srgbClr val="33415C"/>
                </a:solidFill>
                <a:latin typeface="Segoe UI"/>
              </a:rPr>
              <a:t> and synthetic-speech detection as </a:t>
            </a:r>
            <a:r>
              <a:rPr sz="1300" b="1">
                <a:solidFill>
                  <a:srgbClr val="0F1B2D"/>
                </a:solidFill>
                <a:latin typeface="Segoe UI"/>
              </a:rPr>
              <a:t>4 s segments at 2 s stride</a:t>
            </a:r>
            <a:r>
              <a:rPr sz="13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Depth — act on the worst segment: </a:t>
            </a:r>
            <a:r>
              <a:rPr sz="1300" b="0">
                <a:solidFill>
                  <a:srgbClr val="33415C"/>
                </a:solidFill>
                <a:latin typeface="Segoe UI"/>
              </a:rPr>
              <a:t>A hijack can hide inside a reassuring average. Our policy uses the segment maximum, so the aggregate cannot launder a three-second clone.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Thresholds: </a:t>
            </a:r>
            <a:r>
              <a:rPr sz="1300" b="0">
                <a:solidFill>
                  <a:srgbClr val="33415C"/>
                </a:solidFill>
                <a:latin typeface="Segoe UI"/>
              </a:rPr>
              <a:t>vendor match </a:t>
            </a:r>
            <a:r>
              <a:rPr sz="1300" b="1">
                <a:solidFill>
                  <a:srgbClr val="0F1B2D"/>
                </a:solidFill>
                <a:latin typeface="Segoe UI"/>
              </a:rPr>
              <a:t>0.53</a:t>
            </a:r>
            <a:r>
              <a:rPr sz="1300" b="0">
                <a:solidFill>
                  <a:srgbClr val="33415C"/>
                </a:solidFill>
                <a:latin typeface="Segoe UI"/>
              </a:rPr>
              <a:t> · deepfake </a:t>
            </a:r>
            <a:r>
              <a:rPr sz="1300" b="1">
                <a:solidFill>
                  <a:srgbClr val="0F1B2D"/>
                </a:solidFill>
                <a:latin typeface="Segoe UI"/>
              </a:rPr>
              <a:t>0.62</a:t>
            </a:r>
            <a:r>
              <a:rPr sz="1300" b="0">
                <a:solidFill>
                  <a:srgbClr val="33415C"/>
                </a:solidFill>
                <a:latin typeface="Segoe UI"/>
              </a:rPr>
              <a:t> · our auto-approve </a:t>
            </a:r>
            <a:r>
              <a:rPr sz="1300" b="1">
                <a:solidFill>
                  <a:srgbClr val="0F1B2D"/>
                </a:solidFill>
                <a:latin typeface="Segoe UI"/>
              </a:rPr>
              <a:t>0.75</a:t>
            </a:r>
            <a:r>
              <a:rPr sz="1300" b="0">
                <a:solidFill>
                  <a:srgbClr val="33415C"/>
                </a:solidFill>
                <a:latin typeface="Segoe UI"/>
              </a:rPr>
              <a:t> · segment hold </a:t>
            </a:r>
            <a:r>
              <a:rPr sz="1300" b="1">
                <a:solidFill>
                  <a:srgbClr val="0F1B2D"/>
                </a:solidFill>
                <a:latin typeface="Segoe UI"/>
              </a:rPr>
              <a:t>0.90</a:t>
            </a:r>
            <a:r>
              <a:rPr sz="1300" b="0">
                <a:solidFill>
                  <a:srgbClr val="33415C"/>
                </a:solidFill>
                <a:latin typeface="Segoe U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Engineering: </a:t>
            </a:r>
            <a:r>
              <a:rPr sz="1300" b="0">
                <a:solidFill>
                  <a:srgbClr val="33415C"/>
                </a:solidFill>
                <a:latin typeface="Segoe UI"/>
              </a:rPr>
              <a:t>30 ops/min budget · Idempotency-Key makes repeat runs free · 2.0–2.5 s per window · 422 silent_audio, partial and 5xx all fail closed to STEP UP.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Tools used: </a:t>
            </a:r>
            <a:r>
              <a:rPr sz="1300" b="0">
                <a:solidFill>
                  <a:srgbClr val="33415C"/>
                </a:solidFill>
                <a:latin typeface="Segoe UI"/>
              </a:rPr>
              <a:t>DetectifAI (verify + deepfake) · FastAPI/Python · edge-tts (team-generated attacker voice) · ffmpeg · Render · GitHub · AI coding assistant.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20840" y="16459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1B2D"/>
                </a:solidFill>
                <a:latin typeface="Segoe UI"/>
              </a:rPr>
              <a:t>Live results, this prototype (real API)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2029968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E9F6E"/>
                </a:solidFill>
                <a:latin typeface="Segoe UI"/>
              </a:rPr>
              <a:t>GENUINE CALL — PROCEEDS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2860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voice similarity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40" y="2331720"/>
            <a:ext cx="2468879" cy="146304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40" y="2331720"/>
            <a:ext cx="2268900" cy="146304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29546" y="2267712"/>
            <a:ext cx="18288" cy="2743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35639" y="227685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>
                <a:solidFill>
                  <a:srgbClr val="0E9F6E"/>
                </a:solidFill>
                <a:latin typeface="Segoe UI"/>
              </a:rPr>
              <a:t>0.919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26151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AI-gen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2660903"/>
            <a:ext cx="2468879" cy="146304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2660903"/>
            <a:ext cx="18288" cy="146304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51745" y="2596896"/>
            <a:ext cx="18288" cy="2743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5639" y="26060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>
                <a:solidFill>
                  <a:srgbClr val="0E9F6E"/>
                </a:solidFill>
                <a:latin typeface="Segoe UI"/>
              </a:rPr>
              <a:t>0.006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2552" y="2980944"/>
            <a:ext cx="4882896" cy="420623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20840" y="2999232"/>
            <a:ext cx="1211580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26629" y="2999232"/>
            <a:ext cx="1211580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32419" y="2999232"/>
            <a:ext cx="1211580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538209" y="2999232"/>
            <a:ext cx="1211580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0" y="2999232"/>
            <a:ext cx="1211580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749790" y="2999232"/>
            <a:ext cx="1211580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355580" y="2999232"/>
            <a:ext cx="1211580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343814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every 4 s window is real · max segment 0.009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675887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D6394B"/>
                </a:solidFill>
                <a:latin typeface="Segoe UI"/>
              </a:rPr>
              <a:t>AGGREGATE-BLIND HIJACK — HELD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39319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voice similarity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321040" y="3977639"/>
            <a:ext cx="2468879" cy="146304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3977639"/>
            <a:ext cx="1893630" cy="146304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29546" y="3913632"/>
            <a:ext cx="18288" cy="2743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835639" y="3922776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>
                <a:solidFill>
                  <a:srgbClr val="0E9F6E"/>
                </a:solidFill>
                <a:latin typeface="Segoe UI"/>
              </a:rPr>
              <a:t>0.767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2611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4748B"/>
                </a:solidFill>
                <a:latin typeface="Segoe UI"/>
              </a:rPr>
              <a:t>AI-gen score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4306824"/>
            <a:ext cx="2468879" cy="146304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321040" y="4306824"/>
            <a:ext cx="832012" cy="146304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51745" y="4242816"/>
            <a:ext cx="18288" cy="27432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35639" y="42519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50" b="1">
                <a:solidFill>
                  <a:srgbClr val="0E9F6E"/>
                </a:solidFill>
                <a:latin typeface="Segoe UI"/>
              </a:rPr>
              <a:t>0.337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02552" y="4626864"/>
            <a:ext cx="4882896" cy="420623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720840" y="4645152"/>
            <a:ext cx="1491175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466427" y="4645152"/>
            <a:ext cx="1491175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212015" y="4645152"/>
            <a:ext cx="1491175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57603" y="4645152"/>
            <a:ext cx="745587" cy="384048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703190" y="4645152"/>
            <a:ext cx="745587" cy="384048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448778" y="4645152"/>
            <a:ext cx="745587" cy="384048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194366" y="4645152"/>
            <a:ext cx="372793" cy="384048"/>
          </a:xfrm>
          <a:prstGeom prst="rect">
            <a:avLst/>
          </a:prstGeom>
          <a:solidFill>
            <a:srgbClr val="D63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20840" y="5084064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aggregate says “real” (0.337) — segment max 0.999 at 8–13 s → HOLD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20840" y="5449824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0F1B2D"/>
                </a:solidFill>
                <a:latin typeface="Segoe UI"/>
              </a:rPr>
              <a:t>An aggregate-only policy approves this call.</a:t>
            </a:r>
            <a:r>
              <a:rPr sz="1150" b="0">
                <a:solidFill>
                  <a:srgbClr val="33415C"/>
                </a:solidFill>
                <a:latin typeface="Segoe UI"/>
              </a:rPr>
              <a:t> Voice identity passed and the whole-call score said real; only the segment view caught the clone.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B2D"/>
                </a:solidFill>
                <a:latin typeface="Segoe UI"/>
              </a:rPr>
              <a:t>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demo: genuine → PROCEEDS · hijack → HELD · subtle hijack → HELD · silent → STEP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Who it protects: </a:t>
            </a:r>
            <a:r>
              <a:rPr sz="1500" b="0">
                <a:solidFill>
                  <a:srgbClr val="33415C"/>
                </a:solidFill>
                <a:latin typeface="Segoe UI"/>
              </a:rPr>
              <a:t>every customer on an outbound bank, NBFC or insurer confirmation call — the exact moment this fraud class targets.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What changes: </a:t>
            </a:r>
            <a:r>
              <a:rPr sz="1500" b="0">
                <a:solidFill>
                  <a:srgbClr val="33415C"/>
                </a:solidFill>
                <a:latin typeface="Segoe UI"/>
              </a:rPr>
              <a:t>the imposter call ends </a:t>
            </a:r>
            <a:r>
              <a:rPr sz="1500" b="1">
                <a:solidFill>
                  <a:srgbClr val="0F1B2D"/>
                </a:solidFill>
                <a:latin typeface="Segoe UI"/>
              </a:rPr>
              <a:t>before</a:t>
            </a:r>
            <a:r>
              <a:rPr sz="1500" b="0">
                <a:solidFill>
                  <a:srgbClr val="33415C"/>
                </a:solidFill>
                <a:latin typeface="Segoe UI"/>
              </a:rPr>
              <a:t> the customer speaks a single secret; the genuine call gets a visible trust signal instead of anxiety.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Measured on the working prototype: </a:t>
            </a:r>
            <a:r>
              <a:rPr sz="1500" b="0">
                <a:solidFill>
                  <a:srgbClr val="33415C"/>
                </a:solidFill>
                <a:latin typeface="Segoe UI"/>
              </a:rPr>
              <a:t>2.0–2.5 s per window · all four outcomes demonstrated live · 15–60 s enrollment · ~100 credits per combined check.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0F1B2D"/>
                </a:solidFill>
                <a:latin typeface="Segoe UI"/>
              </a:rPr>
              <a:t>False-alarm posture: </a:t>
            </a:r>
            <a:r>
              <a:rPr sz="1500" b="0">
                <a:solidFill>
                  <a:srgbClr val="33415C"/>
                </a:solidFill>
                <a:latin typeface="Segoe UI"/>
              </a:rPr>
              <a:t>thin evidence </a:t>
            </a:r>
            <a:r>
              <a:rPr sz="1500" b="1">
                <a:solidFill>
                  <a:srgbClr val="0F1B2D"/>
                </a:solidFill>
                <a:latin typeface="Segoe UI"/>
              </a:rPr>
              <a:t>steps up</a:t>
            </a:r>
            <a:r>
              <a:rPr sz="1500" b="0">
                <a:solidFill>
                  <a:srgbClr val="33415C"/>
                </a:solidFill>
                <a:latin typeface="Segoe UI"/>
              </a:rPr>
              <a:t> to in-app confirmation — the customer is never locked out, and fraud is never auto-approved.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2331720"/>
            <a:ext cx="3840480" cy="1600200"/>
          </a:xfrm>
          <a:prstGeom prst="rect">
            <a:avLst/>
          </a:prstGeom>
          <a:solidFill>
            <a:srgbClr val="F2F6FB"/>
          </a:solidFill>
          <a:ln w="9525">
            <a:solidFill>
              <a:srgbClr val="D3D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2487168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0E9F6E"/>
                </a:solidFill>
                <a:latin typeface="Segoe UI"/>
              </a:rPr>
              <a:t>~10,000</a:t>
            </a:r>
          </a:p>
          <a:p>
            <a:r>
              <a:rPr sz="1250" b="0">
                <a:solidFill>
                  <a:srgbClr val="33415C"/>
                </a:solidFill>
                <a:latin typeface="Segoe UI"/>
              </a:rPr>
              <a:t>checks funded by </a:t>
            </a:r>
            <a:r>
              <a:rPr sz="1250" b="1">
                <a:solidFill>
                  <a:srgbClr val="0F1B2D"/>
                </a:solidFill>
                <a:latin typeface="Segoe UI"/>
              </a:rPr>
              <a:t>one prevented scam</a:t>
            </a:r>
            <a:r>
              <a:rPr sz="1250" b="0">
                <a:solidFill>
                  <a:srgbClr val="33415C"/>
                </a:solidFill>
                <a:latin typeface="Segoe UI"/>
              </a:rPr>
              <a:t> — a $3,000 typical impersonation loss against the ~$0.30/call market benchmark.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406908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33415C"/>
                </a:solidFill>
                <a:latin typeface="Segoe UI"/>
              </a:rPr>
              <a:t>Every avoided incident also avoids the </a:t>
            </a:r>
            <a:r>
              <a:rPr sz="1200" b="1">
                <a:solidFill>
                  <a:srgbClr val="0F1B2D"/>
                </a:solidFill>
                <a:latin typeface="Segoe UI"/>
              </a:rPr>
              <a:t>customer-trust cost</a:t>
            </a:r>
            <a:r>
              <a:rPr sz="1200" b="0">
                <a:solidFill>
                  <a:srgbClr val="33415C"/>
                </a:solidFill>
                <a:latin typeface="Segoe UI"/>
              </a:rPr>
              <a:t> of a bank-branded fraud call — the loss customers blame on the bank, not the attacker.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E9F6E"/>
                </a:solidFill>
                <a:latin typeface="Segoe UI"/>
              </a:rPr>
              <a:t>SLIDE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F1B2D"/>
                </a:solidFill>
                <a:latin typeface="Segoe UI"/>
              </a:rPr>
              <a:t>Scale and viability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26464"/>
            <a:ext cx="914400" cy="45720"/>
          </a:xfrm>
          <a:prstGeom prst="rect">
            <a:avLst/>
          </a:prstGeom>
          <a:solidFill>
            <a:srgbClr val="0E9F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32764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>
                <a:solidFill>
                  <a:srgbClr val="64748B"/>
                </a:solidFill>
                <a:latin typeface="Segoe UI"/>
              </a:rPr>
              <a:t>Judge link: https://unclone-verified-agent.onrender.com   ·   demo: genuine → PROCEEDS · hijack → HELD · subtle hijack → HELD · silent → STEP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56692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Who pays: </a:t>
            </a:r>
            <a:r>
              <a:rPr sz="1300" b="0">
                <a:solidFill>
                  <a:srgbClr val="33415C"/>
                </a:solidFill>
                <a:latin typeface="Segoe UI"/>
              </a:rPr>
              <a:t>the bank's fraud / scam-prevention team, with contact-center operations. Distribution through CCaaS platforms (Genesys, Amazon Connect) and BPOs. Wedge: high-risk workflows — account recovery, contact-detail and beneficiary changes, high-value confirmation. Priced per analysed high-risk interaction (~$0.30/call benchmark).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Day-1 question — answered: </a:t>
            </a:r>
            <a:r>
              <a:rPr sz="1300" b="0">
                <a:solidFill>
                  <a:srgbClr val="33415C"/>
                </a:solidFill>
                <a:latin typeface="Segoe UI"/>
              </a:rPr>
              <a:t>“Where do you get the training dataset?” </a:t>
            </a:r>
            <a:r>
              <a:rPr sz="1300" b="1">
                <a:solidFill>
                  <a:srgbClr val="0F1B2D"/>
                </a:solidFill>
                <a:latin typeface="Segoe UI"/>
              </a:rPr>
              <a:t>We don't train.</a:t>
            </a:r>
            <a:r>
              <a:rPr sz="1300" b="0">
                <a:solidFill>
                  <a:srgbClr val="33415C"/>
                </a:solidFill>
                <a:latin typeface="Segoe UI"/>
              </a:rPr>
              <a:t> 15–60 s of the bank's own agent voice is enrolled against pretrained models; the bank already records its agents for compliance. No corpus, no training pipeline, </a:t>
            </a:r>
            <a:r>
              <a:rPr sz="1300" b="1">
                <a:solidFill>
                  <a:srgbClr val="0F1B2D"/>
                </a:solidFill>
                <a:latin typeface="Segoe UI"/>
              </a:rPr>
              <a:t>no cold start</a:t>
            </a:r>
            <a:r>
              <a:rPr sz="1300" b="0">
                <a:solidFill>
                  <a:srgbClr val="33415C"/>
                </a:solidFill>
                <a:latin typeface="Segoe UI"/>
              </a:rPr>
              <a:t> — a paid pilot starts in days.</a:t>
            </a:r>
          </a:p>
          <a:p>
            <a:pPr>
              <a:spcAft>
                <a:spcPts val="900"/>
              </a:spcAft>
            </a:pPr>
            <a:r>
              <a:rPr sz="1300" b="1">
                <a:solidFill>
                  <a:srgbClr val="0F1B2D"/>
                </a:solidFill>
                <a:latin typeface="Segoe UI"/>
              </a:rPr>
              <a:t>Privacy by design: </a:t>
            </a:r>
            <a:r>
              <a:rPr sz="1300" b="0">
                <a:solidFill>
                  <a:srgbClr val="33415C"/>
                </a:solidFill>
                <a:latin typeface="Segoe UI"/>
              </a:rPr>
              <a:t>embeddings only, consent / employment basis (DPDP), on-prem option, retention and offboarding policy.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1737360"/>
            <a:ext cx="49377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F1B2D"/>
                </a:solidFill>
                <a:latin typeface="Segoe UI"/>
              </a:rPr>
              <a:t>Risks, named with mitigations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212848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6394B"/>
                </a:solidFill>
                <a:latin typeface="Segoe UI"/>
              </a:rPr>
              <a:t>Latency — </a:t>
            </a:r>
            <a:r>
              <a:rPr sz="1200" b="0">
                <a:solidFill>
                  <a:srgbClr val="33415C"/>
                </a:solidFill>
                <a:latin typeface="Segoe UI"/>
              </a:rPr>
              <a:t>2.0–2.5 s window; the decision lands before the transaction step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79776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6394B"/>
                </a:solidFill>
                <a:latin typeface="Segoe UI"/>
              </a:rPr>
              <a:t>False positives — </a:t>
            </a:r>
            <a:r>
              <a:rPr sz="1200" b="0">
                <a:solidFill>
                  <a:srgbClr val="33415C"/>
                </a:solidFill>
                <a:latin typeface="Segoe UI"/>
              </a:rPr>
              <a:t>auto-approve needs margin; otherwise step up — never auto-block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346704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6394B"/>
                </a:solidFill>
                <a:latin typeface="Segoe UI"/>
              </a:rPr>
              <a:t>Adversarial TTS — </a:t>
            </a:r>
            <a:r>
              <a:rPr sz="1200" b="0">
                <a:solidFill>
                  <a:srgbClr val="33415C"/>
                </a:solidFill>
                <a:latin typeface="Segoe UI"/>
              </a:rPr>
              <a:t>layer voice identity + deepfake + transaction context; detection is a signal, not proof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13631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6394B"/>
                </a:solidFill>
                <a:latin typeface="Segoe UI"/>
              </a:rPr>
              <a:t>Biometric privacy — </a:t>
            </a:r>
            <a:r>
              <a:rPr sz="1200" b="0">
                <a:solidFill>
                  <a:srgbClr val="33415C"/>
                </a:solidFill>
                <a:latin typeface="Segoe UI"/>
              </a:rPr>
              <a:t>vector-only storage, minimisation, retention policy, on-prem option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48056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6394B"/>
                </a:solidFill>
                <a:latin typeface="Segoe UI"/>
              </a:rPr>
              <a:t>Integration — </a:t>
            </a:r>
            <a:r>
              <a:rPr sz="1200" b="0">
                <a:solidFill>
                  <a:srgbClr val="33415C"/>
                </a:solidFill>
                <a:latin typeface="Segoe UI"/>
              </a:rPr>
              <a:t>ship as one signal in one workflow, then expand through the call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50749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1B2D"/>
                </a:solidFill>
                <a:latin typeface="Segoe UI"/>
              </a:rPr>
              <a:t>Roadmap:</a:t>
            </a:r>
            <a:r>
              <a:rPr sz="1200" b="0">
                <a:solidFill>
                  <a:srgbClr val="33415C"/>
                </a:solidFill>
                <a:latin typeface="Segoe UI"/>
              </a:rPr>
              <a:t> same windowed check over PSTN / WhatsApp audio, then an open agent-to-agent attestation protocol.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