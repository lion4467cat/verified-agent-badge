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9F6E"/>
                </a:solidFill>
                <a:latin typeface="Segoe UI"/>
              </a:rPr>
              <a:t>SLIDE 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Segoe UI"/>
              </a:rPr>
              <a:t>The phone scam no amount of care can stop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Try it live —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33415C"/>
                </a:solidFill>
                <a:latin typeface="Segoe UI"/>
              </a:rPr>
              <a:t>Your phone rings. </a:t>
            </a:r>
            <a:r>
              <a:rPr sz="1900" b="1">
                <a:solidFill>
                  <a:srgbClr val="0F1B2D"/>
                </a:solidFill>
                <a:latin typeface="Segoe UI"/>
              </a:rPr>
              <a:t>This is your bank about a Rs 86,499 payment above your limit.</a:t>
            </a:r>
            <a:r>
              <a:rPr sz="1900" b="0">
                <a:solidFill>
                  <a:srgbClr val="33415C"/>
                </a:solidFill>
                <a:latin typeface="Segoe UI"/>
              </a:rPr>
              <a:t> Name right, details right, voice right.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33415C"/>
                </a:solidFill>
                <a:latin typeface="Segoe UI"/>
              </a:rPr>
              <a:t>The voice is a </a:t>
            </a:r>
            <a:r>
              <a:rPr sz="1700" b="1">
                <a:solidFill>
                  <a:srgbClr val="0F1B2D"/>
                </a:solidFill>
                <a:latin typeface="Segoe UI"/>
              </a:rPr>
              <a:t>computer clone</a:t>
            </a:r>
            <a:r>
              <a:rPr sz="1700" b="0">
                <a:solidFill>
                  <a:srgbClr val="33415C"/>
                </a:solidFill>
                <a:latin typeface="Segoe UI"/>
              </a:rPr>
              <a:t> of the bank's agent. You cannot tell. Nobody can.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33415C"/>
                </a:solidFill>
                <a:latin typeface="Segoe UI"/>
              </a:rPr>
              <a:t>The old guardrails are dead: caller ID is faked, the caller knows everything, and </a:t>
            </a:r>
            <a:r>
              <a:rPr sz="1700" b="1">
                <a:solidFill>
                  <a:srgbClr val="0F1B2D"/>
                </a:solidFill>
                <a:latin typeface="Segoe UI"/>
              </a:rPr>
              <a:t>they don't need you to tell them anything</a:t>
            </a:r>
            <a:r>
              <a:rPr sz="1700" b="0">
                <a:solidFill>
                  <a:srgbClr val="33415C"/>
                </a:solidFill>
                <a:latin typeface="Segoe UI"/>
              </a:rPr>
              <a:t> — they need you to agree.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33415C"/>
                </a:solidFill>
                <a:latin typeface="Segoe UI"/>
              </a:rPr>
              <a:t>Our idea: </a:t>
            </a:r>
            <a:r>
              <a:rPr sz="1700" b="1">
                <a:solidFill>
                  <a:srgbClr val="0F1B2D"/>
                </a:solidFill>
                <a:latin typeface="Segoe UI"/>
              </a:rPr>
              <a:t>let the customer verify the caller.</a:t>
            </a:r>
            <a:r>
              <a:rPr sz="1700" b="0">
                <a:solidFill>
                  <a:srgbClr val="33415C"/>
                </a:solidFill>
                <a:latin typeface="Segoe UI"/>
              </a:rPr>
              <a:t> Nobody is on the customer's side of the call today. We 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9F6E"/>
                </a:solidFill>
                <a:latin typeface="Segoe UI"/>
              </a:rPr>
              <a:t>SLIDE 2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Segoe UI"/>
              </a:rPr>
              <a:t>A traffic light for the phone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Try it live —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33415C"/>
                </a:solidFill>
                <a:latin typeface="Segoe UI"/>
              </a:rPr>
              <a:t>An app on </a:t>
            </a:r>
            <a:r>
              <a:rPr sz="1900" b="1">
                <a:solidFill>
                  <a:srgbClr val="0F1B2D"/>
                </a:solidFill>
                <a:latin typeface="Segoe UI"/>
              </a:rPr>
              <a:t>your</a:t>
            </a:r>
            <a:r>
              <a:rPr sz="1900" b="0">
                <a:solidFill>
                  <a:srgbClr val="33415C"/>
                </a:solidFill>
                <a:latin typeface="Segoe UI"/>
              </a:rPr>
              <a:t> side of the call listens and checks, every 6 seconds, </a:t>
            </a:r>
            <a:r>
              <a:rPr sz="1900" b="1">
                <a:solidFill>
                  <a:srgbClr val="0F1B2D"/>
                </a:solidFill>
                <a:latin typeface="Segoe UI"/>
              </a:rPr>
              <a:t>is each slice the real enrolled agent — or a machine copying them?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3520440" cy="12344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" y="3136392"/>
            <a:ext cx="292608" cy="292608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3081528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9F6E"/>
                </a:solidFill>
                <a:latin typeface="Segoe UI"/>
              </a:rPr>
              <a:t>GREEN · 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971800"/>
            <a:ext cx="3520440" cy="12344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7992" y="3136392"/>
            <a:ext cx="292608" cy="292608"/>
          </a:xfrm>
          <a:prstGeom prst="ellipse">
            <a:avLst/>
          </a:prstGeom>
          <a:solidFill>
            <a:srgbClr val="C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8" y="3081528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8600"/>
                </a:solidFill>
                <a:latin typeface="Segoe UI"/>
              </a:rPr>
              <a:t>AMBER · DOUBLE-CHECK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971800"/>
            <a:ext cx="3566160" cy="12344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65592" y="3136392"/>
            <a:ext cx="292608" cy="292608"/>
          </a:xfrm>
          <a:prstGeom prst="ellipse">
            <a:avLst/>
          </a:prstGeom>
          <a:solidFill>
            <a:srgbClr val="D6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3081528"/>
            <a:ext cx="2880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6394B"/>
                </a:solidFill>
                <a:latin typeface="Segoe UI"/>
              </a:rPr>
              <a:t>RED · 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15C"/>
                </a:solidFill>
                <a:latin typeface="Segoe UI"/>
              </a:rPr>
              <a:t>The red light is not a warning — </a:t>
            </a:r>
            <a:r>
              <a:rPr sz="1600" b="1">
                <a:solidFill>
                  <a:srgbClr val="0F1B2D"/>
                </a:solidFill>
                <a:latin typeface="Segoe UI"/>
              </a:rPr>
              <a:t>watch the demo: the audio stops mid-sentence</a:t>
            </a:r>
            <a:r>
              <a:rPr sz="1600" b="0">
                <a:solidFill>
                  <a:srgbClr val="33415C"/>
                </a:solidFill>
                <a:latin typeface="Segoe UI"/>
              </a:rPr>
              <a:t> and the transaction flips to payment blocked.</a:t>
            </a:r>
          </a:p>
          <a:p>
            <a:r>
              <a:rPr sz="1400" b="0">
                <a:solidFill>
                  <a:srgbClr val="64748B"/>
                </a:solidFill>
                <a:latin typeface="Segoe UI"/>
              </a:rPr>
              <a:t>And it works on voices it has never heard: our judges can enrol their own voice and try it live.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9F6E"/>
                </a:solidFill>
                <a:latin typeface="Segoe UI"/>
              </a:rPr>
              <a:t>SLIDE 3 · THE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Segoe UI"/>
              </a:rPr>
              <a:t>Four questions, asked every 6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Try it live —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415C"/>
                </a:solidFill>
                <a:latin typeface="Segoe UI"/>
              </a:rPr>
              <a:t>The call is chopped into </a:t>
            </a:r>
            <a:r>
              <a:rPr sz="1800" b="1">
                <a:solidFill>
                  <a:srgbClr val="0F1B2D"/>
                </a:solidFill>
                <a:latin typeface="Segoe UI"/>
              </a:rPr>
              <a:t>6-second slices</a:t>
            </a:r>
            <a:r>
              <a:rPr sz="1800" b="0">
                <a:solidFill>
                  <a:srgbClr val="33415C"/>
                </a:solidFill>
                <a:latin typeface="Segoe UI"/>
              </a:rPr>
              <a:t>, and each slice answers four questions. If any answer is wrong — red or amber, </a:t>
            </a:r>
            <a:r>
              <a:rPr sz="1800" b="1">
                <a:solidFill>
                  <a:srgbClr val="0F1B2D"/>
                </a:solidFill>
                <a:latin typeface="Segoe UI"/>
              </a:rPr>
              <a:t>never auto-approve</a:t>
            </a:r>
            <a:r>
              <a:rPr sz="1800" b="0">
                <a:solidFill>
                  <a:srgbClr val="33415C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5440680" cy="126187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688336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0E9F6E"/>
                </a:solidFill>
                <a:latin typeface="Segoe UI"/>
              </a:rPr>
              <a:t>1 · Is it the right voice?</a:t>
            </a:r>
          </a:p>
          <a:p>
            <a:r>
              <a:rPr sz="1150" b="0">
                <a:solidFill>
                  <a:srgbClr val="33415C"/>
                </a:solidFill>
                <a:latin typeface="Segoe UI"/>
              </a:rPr>
              <a:t>Every 6-second slice is checked against the voice fingerprint enrolled from the real bank agent; a different-voice clone fails 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440680" cy="126187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688336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0E9F6E"/>
                </a:solidFill>
                <a:latin typeface="Segoe UI"/>
              </a:rPr>
              <a:t>2 · Does any of it sound machine-made?</a:t>
            </a:r>
          </a:p>
          <a:p>
            <a:r>
              <a:rPr sz="1150" b="0">
                <a:solidFill>
                  <a:srgbClr val="33415C"/>
                </a:solidFill>
                <a:latin typeface="Segoe UI"/>
              </a:rPr>
              <a:t>Same AI scores every 4-second piece for generator artefacts — a same-voice clone can pass Q1 but not this.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5440680" cy="126187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4059935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C88600"/>
                </a:solidFill>
                <a:latin typeface="Segoe UI"/>
              </a:rPr>
              <a:t>3 · Does the room sound real?</a:t>
            </a:r>
          </a:p>
          <a:p>
            <a:r>
              <a:rPr sz="1150" b="0">
                <a:solidFill>
                  <a:srgbClr val="33415C"/>
                </a:solidFill>
                <a:latin typeface="Segoe UI"/>
              </a:rPr>
              <a:t>Forensics checks for a real acoustic room. A pure digital render has none — that is an escalation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440680" cy="126187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059935"/>
            <a:ext cx="5111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D6394B"/>
                </a:solidFill>
                <a:latin typeface="Segoe UI"/>
              </a:rPr>
              <a:t>4 · Is it being replayed?</a:t>
            </a:r>
          </a:p>
          <a:p>
            <a:r>
              <a:rPr sz="1150" b="0">
                <a:solidFill>
                  <a:srgbClr val="33415C"/>
                </a:solidFill>
                <a:latin typeface="Segoe UI"/>
              </a:rPr>
              <a:t>Identical audio arriving twice is a recording being re-run, not a live call — blocked on the spot.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B2D"/>
                </a:solidFill>
                <a:latin typeface="Segoe UI"/>
              </a:rPr>
              <a:t>Four real attacker variants — and which layer bites each one: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13248"/>
            <a:ext cx="10972800" cy="242316"/>
          </a:xfrm>
          <a:prstGeom prst="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422392"/>
            <a:ext cx="2084831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F1B2D"/>
                </a:solidFill>
                <a:latin typeface="Segoe UI"/>
              </a:rPr>
              <a:t>A · Different voice clone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5422392"/>
            <a:ext cx="3273552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Downtown, cheap TTS clone of another person.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3" y="5422392"/>
            <a:ext cx="3182112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fingerprint fails (similarity &lt; 0.53)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0344" y="5422392"/>
            <a:ext cx="1993391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6394B"/>
                </a:solidFill>
                <a:latin typeface="Segoe UI"/>
              </a:rPr>
              <a:t>RED HOLD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82996"/>
            <a:ext cx="10972800" cy="242316"/>
          </a:xfrm>
          <a:prstGeom prst="rect">
            <a:avLst/>
          </a:prstGeom>
          <a:solidFill>
            <a:srgbClr val="E7EEF6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5692140"/>
            <a:ext cx="2084831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F1B2D"/>
                </a:solidFill>
                <a:latin typeface="Segoe UI"/>
              </a:rPr>
              <a:t>B · Same-voice clone (our Call 2 / 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5224" y="5692140"/>
            <a:ext cx="3273552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Same tool, only the agent's timbre.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3" y="5692140"/>
            <a:ext cx="3182112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fingerprint may pass, but deepfake flags machine artefacts per 4-s slice; one hot &gt;= 0.90 holds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5692140"/>
            <a:ext cx="1993391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6394B"/>
                </a:solidFill>
                <a:latin typeface="Segoe UI"/>
              </a:rPr>
              <a:t>RED HOLD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52744"/>
            <a:ext cx="10972800" cy="242316"/>
          </a:xfrm>
          <a:prstGeom prst="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5961888"/>
            <a:ext cx="2084831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F1B2D"/>
                </a:solidFill>
                <a:latin typeface="Segoe UI"/>
              </a:rPr>
              <a:t>C · Clone that also fools deepfake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5224" y="5961888"/>
            <a:ext cx="3273552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Newer engine unseen in training; deepfake low, similarity high.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3" y="5961888"/>
            <a:ext cx="3182112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forensics catches a pure digital render: no room tone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4" y="5961888"/>
            <a:ext cx="1993391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88600"/>
                </a:solidFill>
                <a:latin typeface="Segoe UI"/>
              </a:rPr>
              <a:t>AMBER STEP-UP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222492"/>
            <a:ext cx="10972800" cy="242316"/>
          </a:xfrm>
          <a:prstGeom prst="rect">
            <a:avLst/>
          </a:prstGeom>
          <a:solidFill>
            <a:srgbClr val="E7EEF6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6231636"/>
            <a:ext cx="2084831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F1B2D"/>
                </a:solidFill>
                <a:latin typeface="Segoe UI"/>
              </a:rPr>
              <a:t>D · Replay of the agent's real audio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5224" y="6231636"/>
            <a:ext cx="3273552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Attacker plays the agent's own recording back.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3" y="6231636"/>
            <a:ext cx="3182112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3415C"/>
                </a:solidFill>
                <a:latin typeface="Segoe UI"/>
              </a:rPr>
              <a:t>everything else passes — content fingerprint catches identical audio re-sent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0344" y="6231636"/>
            <a:ext cx="1993391" cy="25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6394B"/>
                </a:solidFill>
                <a:latin typeface="Segoe UI"/>
              </a:rPr>
              <a:t>RED HOLD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9F6E"/>
                </a:solidFill>
                <a:latin typeface="Segoe UI"/>
              </a:rPr>
              <a:t>SLIDE 4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Segoe UI"/>
              </a:rPr>
              <a:t>What one caught call is worth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Try it live —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F1B2D"/>
                </a:solidFill>
                <a:latin typeface="Segoe UI"/>
              </a:rPr>
              <a:t>Loss per voice scam:  </a:t>
            </a:r>
            <a:r>
              <a:rPr sz="1800" b="0">
                <a:solidFill>
                  <a:srgbClr val="33415C"/>
                </a:solidFill>
                <a:latin typeface="Segoe UI"/>
              </a:rPr>
              <a:t>about $5,700 (about Rs 4.8 lakh, FTC 2024).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B2D"/>
                </a:solidFill>
                <a:latin typeface="Segoe UI"/>
              </a:rPr>
              <a:t>Cost to check a risky call:  </a:t>
            </a:r>
            <a:r>
              <a:rPr sz="1800" b="0">
                <a:solidFill>
                  <a:srgbClr val="33415C"/>
                </a:solidFill>
                <a:latin typeface="Segoe UI"/>
              </a:rPr>
              <a:t>about 50 cents. The whole product story is this gap.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At one big bank scale:  </a:t>
            </a:r>
            <a:r>
              <a:rPr sz="1700" b="0">
                <a:solidFill>
                  <a:srgbClr val="33415C"/>
                </a:solidFill>
                <a:latin typeface="Segoe UI"/>
              </a:rPr>
              <a:t>about $66 M/yr of prevented losses. That's the five-frame model: 1.56 M risky calls x 1.33 % scams x $5,700 x 80 % caught x 70 % stopped.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False alarms are cheap:  </a:t>
            </a:r>
            <a:r>
              <a:rPr sz="1700" b="0">
                <a:solidFill>
                  <a:srgbClr val="33415C"/>
                </a:solidFill>
                <a:latin typeface="Segoe UI"/>
              </a:rPr>
              <a:t>worst case, the customer confirms in the app. Nobody is ever locked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2331720"/>
            <a:ext cx="4114800" cy="2377440"/>
          </a:xfrm>
          <a:prstGeom prst="rect">
            <a:avLst/>
          </a:prstGeom>
          <a:solidFill>
            <a:srgbClr val="F2F6FB"/>
          </a:solidFill>
          <a:ln w="9525">
            <a:solidFill>
              <a:srgbClr val="D3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56032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1">
                <a:solidFill>
                  <a:srgbClr val="0E9F6E"/>
                </a:solidFill>
                <a:latin typeface="Segoe UI"/>
              </a:rPr>
              <a:t>~100x</a:t>
            </a:r>
          </a:p>
          <a:p>
            <a:r>
              <a:rPr sz="1400" b="0">
                <a:solidFill>
                  <a:srgbClr val="33415C"/>
                </a:solidFill>
                <a:latin typeface="Segoe UI"/>
              </a:rPr>
              <a:t>return on the checking cost: a 50-cent check that catches a $5,700 theft.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50292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4748B"/>
                </a:solidFill>
                <a:latin typeface="Segoe UI"/>
              </a:rPr>
              <a:t>Latency: p50 &lt; 1 s per slice on the deployed build — inside the decision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9F6E"/>
                </a:solidFill>
                <a:latin typeface="Segoe UI"/>
              </a:rPr>
              <a:t>SLIDE 5 ·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B2D"/>
                </a:solidFill>
                <a:latin typeface="Segoe UI"/>
              </a:rPr>
              <a:t>Banks pay for it — and starting needs zero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Try it live —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Who pays:  </a:t>
            </a:r>
            <a:r>
              <a:rPr sz="1700" b="0">
                <a:solidFill>
                  <a:srgbClr val="33415C"/>
                </a:solidFill>
                <a:latin typeface="Segoe UI"/>
              </a:rPr>
              <a:t>the bank's fraud team. A bank can't stop a </a:t>
            </a:r>
            <a:r>
              <a:rPr sz="1700" b="1">
                <a:solidFill>
                  <a:srgbClr val="0F1B2D"/>
                </a:solidFill>
                <a:latin typeface="Segoe UI"/>
              </a:rPr>
              <a:t>perfect clone</a:t>
            </a:r>
            <a:r>
              <a:rPr sz="1700" b="0">
                <a:solidFill>
                  <a:srgbClr val="33415C"/>
                </a:solidFill>
                <a:latin typeface="Segoe UI"/>
              </a:rPr>
              <a:t> from inside its own call centre — the clone is its own agent's voice. Only the </a:t>
            </a:r>
            <a:r>
              <a:rPr sz="1700" b="1">
                <a:solidFill>
                  <a:srgbClr val="0F1B2D"/>
                </a:solidFill>
                <a:latin typeface="Segoe UI"/>
              </a:rPr>
              <a:t>customer's side</a:t>
            </a:r>
            <a:r>
              <a:rPr sz="1700" b="0">
                <a:solidFill>
                  <a:srgbClr val="33415C"/>
                </a:solidFill>
                <a:latin typeface="Segoe UI"/>
              </a:rPr>
              <a:t> can.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Starting takes a day, not a dataset:  </a:t>
            </a:r>
            <a:r>
              <a:rPr sz="1700" b="0">
                <a:solidFill>
                  <a:srgbClr val="33415C"/>
                </a:solidFill>
                <a:latin typeface="Segoe UI"/>
              </a:rPr>
              <a:t>banks already record their agents for compliance. Take </a:t>
            </a:r>
            <a:r>
              <a:rPr sz="1700" b="1">
                <a:solidFill>
                  <a:srgbClr val="0F1B2D"/>
                </a:solidFill>
                <a:latin typeface="Segoe UI"/>
              </a:rPr>
              <a:t>15 to 60 s of that recording</a:t>
            </a:r>
            <a:r>
              <a:rPr sz="1700" b="0">
                <a:solidFill>
                  <a:srgbClr val="33415C"/>
                </a:solidFill>
                <a:latin typeface="Segoe UI"/>
              </a:rPr>
              <a:t>, enrol it — done. </a:t>
            </a:r>
            <a:r>
              <a:rPr sz="1700" b="1">
                <a:solidFill>
                  <a:srgbClr val="0F1B2D"/>
                </a:solidFill>
                <a:latin typeface="Segoe UI"/>
              </a:rPr>
              <a:t>We train nothing.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The honest scoreboard:  </a:t>
            </a:r>
            <a:r>
              <a:rPr sz="1700" b="0">
                <a:solidFill>
                  <a:srgbClr val="33415C"/>
                </a:solidFill>
                <a:latin typeface="Segoe UI"/>
              </a:rPr>
              <a:t>live now — 3 attacked calls + your own voice, every failure fails *safe* (amber, never auto-approve). Next — the phone-network version. We say which is which.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First pilot:  </a:t>
            </a:r>
            <a:r>
              <a:rPr sz="1700" b="0">
                <a:solidFill>
                  <a:srgbClr val="33415C"/>
                </a:solidFill>
                <a:latin typeface="Segoe UI"/>
              </a:rPr>
              <a:t>6 weeks, flagged calls only. Success = one caught scam with the full evidence log shown — then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