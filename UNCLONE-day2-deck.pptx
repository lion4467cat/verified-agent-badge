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The phone scam no amount of care can stop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33415C"/>
                </a:solidFill>
                <a:latin typeface="Segoe UI"/>
              </a:rPr>
              <a:t>Your phone rings. </a:t>
            </a:r>
            <a:r>
              <a:rPr sz="1900" b="1">
                <a:solidFill>
                  <a:srgbClr val="0F1B2D"/>
                </a:solidFill>
                <a:latin typeface="Segoe UI"/>
              </a:rPr>
              <a:t>“This is your bank about a ₹86,499 payment above your limit.”</a:t>
            </a:r>
            <a:r>
              <a:rPr sz="1900" b="0">
                <a:solidFill>
                  <a:srgbClr val="33415C"/>
                </a:solidFill>
                <a:latin typeface="Segoe UI"/>
              </a:rPr>
              <a:t> Name right, details right, voice right.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voice is a </a:t>
            </a:r>
            <a:r>
              <a:rPr sz="1700" b="1">
                <a:solidFill>
                  <a:srgbClr val="0F1B2D"/>
                </a:solidFill>
                <a:latin typeface="Segoe UI"/>
              </a:rPr>
              <a:t>computer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of the bank's agent. You cannot tell. Nobody can.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old guardrails are dead: caller ID is faked, the caller knows everything, and </a:t>
            </a:r>
            <a:r>
              <a:rPr sz="1700" b="1">
                <a:solidFill>
                  <a:srgbClr val="0F1B2D"/>
                </a:solidFill>
                <a:latin typeface="Segoe UI"/>
              </a:rPr>
              <a:t>they don't need you to tell them anything</a:t>
            </a:r>
            <a:r>
              <a:rPr sz="1700" b="0">
                <a:solidFill>
                  <a:srgbClr val="33415C"/>
                </a:solidFill>
                <a:latin typeface="Segoe UI"/>
              </a:rPr>
              <a:t> — they need you to agree.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Our idea: </a:t>
            </a:r>
            <a:r>
              <a:rPr sz="1700" b="1">
                <a:solidFill>
                  <a:srgbClr val="0F1B2D"/>
                </a:solidFill>
                <a:latin typeface="Segoe UI"/>
              </a:rPr>
              <a:t>let the customer verify the caller.</a:t>
            </a:r>
            <a:r>
              <a:rPr sz="1700" b="0">
                <a:solidFill>
                  <a:srgbClr val="33415C"/>
                </a:solidFill>
                <a:latin typeface="Segoe UI"/>
              </a:rPr>
              <a:t> Nobody is on the customer's side of the call today. We are.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2 ·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A traffic light for the phone 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33415C"/>
                </a:solidFill>
                <a:latin typeface="Segoe UI"/>
              </a:rPr>
              <a:t>An app on </a:t>
            </a:r>
            <a:r>
              <a:rPr sz="1900" b="1">
                <a:solidFill>
                  <a:srgbClr val="0F1B2D"/>
                </a:solidFill>
                <a:latin typeface="Segoe UI"/>
              </a:rPr>
              <a:t>your</a:t>
            </a:r>
            <a:r>
              <a:rPr sz="1900" b="0">
                <a:solidFill>
                  <a:srgbClr val="33415C"/>
                </a:solidFill>
                <a:latin typeface="Segoe UI"/>
              </a:rPr>
              <a:t> side of the call listens every 6 seconds and asks one question: </a:t>
            </a:r>
            <a:r>
              <a:rPr sz="1900" b="1">
                <a:solidFill>
                  <a:srgbClr val="0F1B2D"/>
                </a:solidFill>
                <a:latin typeface="Segoe UI"/>
              </a:rPr>
              <a:t>is this the real bank agent, or a machine copying them?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392" y="3136392"/>
            <a:ext cx="292608" cy="292608"/>
          </a:xfrm>
          <a:prstGeom prst="ellipse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081528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9F6E"/>
                </a:solidFill>
                <a:latin typeface="Segoe UI"/>
              </a:rPr>
              <a:t>GREEN · GO</a:t>
            </a:r>
          </a:p>
          <a:p>
            <a:r>
              <a:rPr sz="1200" b="0">
                <a:solidFill>
                  <a:srgbClr val="33415C"/>
                </a:solidFill>
                <a:latin typeface="Segoe UI"/>
              </a:rPr>
              <a:t>Real voice, sounds human. Carry on with the call.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7992" y="3136392"/>
            <a:ext cx="292608" cy="292608"/>
          </a:xfrm>
          <a:prstGeom prst="ellipse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0328" y="3081528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88600"/>
                </a:solidFill>
                <a:latin typeface="Segoe UI"/>
              </a:rPr>
              <a:t>AMBER · DOUBLE-CHECK</a:t>
            </a:r>
          </a:p>
          <a:p>
            <a:r>
              <a:rPr sz="1200" b="0">
                <a:solidFill>
                  <a:srgbClr val="33415C"/>
                </a:solidFill>
                <a:latin typeface="Segoe UI"/>
              </a:rPr>
              <a:t>Can't be sure. Confirm the payment in the app instead.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971800"/>
            <a:ext cx="356616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65592" y="3136392"/>
            <a:ext cx="292608" cy="292608"/>
          </a:xfrm>
          <a:prstGeom prst="ellipse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67928" y="3081528"/>
            <a:ext cx="2880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6394B"/>
                </a:solidFill>
                <a:latin typeface="Segoe UI"/>
              </a:rPr>
              <a:t>RED · STOP</a:t>
            </a:r>
          </a:p>
          <a:p>
            <a:r>
              <a:rPr sz="1200" b="0">
                <a:solidFill>
                  <a:srgbClr val="33415C"/>
                </a:solidFill>
                <a:latin typeface="Segoe UI"/>
              </a:rPr>
              <a:t>A fake was caught. The call is cut, the payment blocked.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15C"/>
                </a:solidFill>
                <a:latin typeface="Segoe UI"/>
              </a:rPr>
              <a:t>The red light is not a warning — </a:t>
            </a:r>
            <a:r>
              <a:rPr sz="1600" b="1">
                <a:solidFill>
                  <a:srgbClr val="0F1B2D"/>
                </a:solidFill>
                <a:latin typeface="Segoe UI"/>
              </a:rPr>
              <a:t>watch the demo: the audio stops mid-sentence</a:t>
            </a:r>
            <a:r>
              <a:rPr sz="1600" b="0">
                <a:solidFill>
                  <a:srgbClr val="33415C"/>
                </a:solidFill>
                <a:latin typeface="Segoe UI"/>
              </a:rPr>
              <a:t> and the transaction flips to “payment blocked”.</a:t>
            </a:r>
          </a:p>
          <a:p>
            <a:r>
              <a:rPr sz="1400" b="0">
                <a:solidFill>
                  <a:srgbClr val="64748B"/>
                </a:solidFill>
                <a:latin typeface="Segoe UI"/>
              </a:rPr>
              <a:t>And it works on voices it has never heard: our judges can enrol their own voice and try it live.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3 · THE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Four questions, asked every 6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33415C"/>
                </a:solidFill>
                <a:latin typeface="Segoe UI"/>
              </a:rPr>
              <a:t>The call is chopped into </a:t>
            </a:r>
            <a:r>
              <a:rPr sz="1800" b="1">
                <a:solidFill>
                  <a:srgbClr val="0F1B2D"/>
                </a:solidFill>
                <a:latin typeface="Segoe UI"/>
              </a:rPr>
              <a:t>6-second slices</a:t>
            </a:r>
            <a:r>
              <a:rPr sz="1800" b="0">
                <a:solidFill>
                  <a:srgbClr val="33415C"/>
                </a:solidFill>
                <a:latin typeface="Segoe UI"/>
              </a:rPr>
              <a:t>, and each slice answers four questions. If any answer is wrong — red or amber, </a:t>
            </a:r>
            <a:r>
              <a:rPr sz="1800" b="1">
                <a:solidFill>
                  <a:srgbClr val="0F1B2D"/>
                </a:solidFill>
                <a:latin typeface="Segoe UI"/>
              </a:rPr>
              <a:t>never auto-approve</a:t>
            </a:r>
            <a:r>
              <a:rPr sz="1800" b="0">
                <a:solidFill>
                  <a:srgbClr val="33415C"/>
                </a:solidFill>
                <a:latin typeface="Segoe U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5440680" cy="137160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734056"/>
            <a:ext cx="511149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E9F6E"/>
                </a:solidFill>
                <a:latin typeface="Segoe UI"/>
              </a:rPr>
              <a:t>1 · Is it the right voice?</a:t>
            </a:r>
          </a:p>
          <a:p>
            <a:r>
              <a:rPr sz="1150" b="0">
                <a:solidFill>
                  <a:srgbClr val="33415C"/>
                </a:solidFill>
                <a:latin typeface="Segoe UI"/>
              </a:rPr>
              <a:t>The bank agent's voice fingerprint (enrolled once) is compared to every slice. A cheap clone with a different voice fails here.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51760"/>
            <a:ext cx="5440680" cy="137160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734056"/>
            <a:ext cx="511149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E9F6E"/>
                </a:solidFill>
                <a:latin typeface="Segoe UI"/>
              </a:rPr>
              <a:t>2 · Does it sound human?</a:t>
            </a:r>
          </a:p>
          <a:p>
            <a:r>
              <a:rPr sz="1150" b="0">
                <a:solidFill>
                  <a:srgbClr val="33415C"/>
                </a:solidFill>
                <a:latin typeface="Segoe UI"/>
              </a:rPr>
              <a:t>DetectifAI scores every 4-second piece for machine artefacts. A perfect same-voice clone can pass Q1 — but its machine-made pieces still score “0.999 synthetic” → 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5440680" cy="137160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215383"/>
            <a:ext cx="511149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C88600"/>
                </a:solidFill>
                <a:latin typeface="Segoe UI"/>
              </a:rPr>
              <a:t>3 · Does the room sound real?</a:t>
            </a:r>
          </a:p>
          <a:p>
            <a:r>
              <a:rPr sz="1150" b="0">
                <a:solidFill>
                  <a:srgbClr val="33415C"/>
                </a:solidFill>
                <a:latin typeface="Segoe UI"/>
              </a:rPr>
              <a:t>Forensics = a room-tone scan. Recordings of real calls carry the faint noise of a real space; computer-generated voices are born in digital silence. No room → amber.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133087"/>
            <a:ext cx="5440680" cy="137160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4215383"/>
            <a:ext cx="511149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D6394B"/>
                </a:solidFill>
                <a:latin typeface="Segoe UI"/>
              </a:rPr>
              <a:t>4 · Is it being replayed?</a:t>
            </a:r>
          </a:p>
          <a:p>
            <a:r>
              <a:rPr sz="1150" b="0">
                <a:solidFill>
                  <a:srgbClr val="33415C"/>
                </a:solidFill>
                <a:latin typeface="Segoe UI"/>
              </a:rPr>
              <a:t>The exact same audio arriving twice is a recording being re-run, not a live conversation — blocked on the spot, however real it sounds.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150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0F1B2D"/>
                </a:solidFill>
                <a:latin typeface="Segoe UI"/>
              </a:rPr>
              <a:t>Why four layers:</a:t>
            </a:r>
            <a:r>
              <a:rPr sz="1350" b="0">
                <a:solidFill>
                  <a:srgbClr val="33415C"/>
                </a:solidFill>
                <a:latin typeface="Segoe UI"/>
              </a:rPr>
              <a:t> each check's blind spot is another check's job — a same-voice clone fools Q1 but fails Q2; a brand-new TTS engine may slip past Q2 but has no real room behind it (Q3); a straight replay leaves nothing to analyse — and still gets caught (Q4).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4 ·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What one caught call is worth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6309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Loss per voice scam:  </a:t>
            </a:r>
            <a:r>
              <a:rPr sz="1800" b="0">
                <a:solidFill>
                  <a:srgbClr val="33415C"/>
                </a:solidFill>
                <a:latin typeface="Segoe UI"/>
              </a:rPr>
              <a:t>≈ </a:t>
            </a:r>
            <a:r>
              <a:rPr sz="1800" b="1">
                <a:solidFill>
                  <a:srgbClr val="0F1B2D"/>
                </a:solidFill>
                <a:latin typeface="Segoe UI"/>
              </a:rPr>
              <a:t>$5,700</a:t>
            </a:r>
            <a:r>
              <a:rPr sz="1800" b="0">
                <a:solidFill>
                  <a:srgbClr val="33415C"/>
                </a:solidFill>
                <a:latin typeface="Segoe UI"/>
              </a:rPr>
              <a:t> (≈ ₹4.8 lakh). (FTC 2024)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Cost to check a risky call:  </a:t>
            </a:r>
            <a:r>
              <a:rPr sz="1800" b="0">
                <a:solidFill>
                  <a:srgbClr val="33415C"/>
                </a:solidFill>
                <a:latin typeface="Segoe UI"/>
              </a:rPr>
              <a:t>≈ </a:t>
            </a:r>
            <a:r>
              <a:rPr sz="1800" b="1">
                <a:solidFill>
                  <a:srgbClr val="0F1B2D"/>
                </a:solidFill>
                <a:latin typeface="Segoe UI"/>
              </a:rPr>
              <a:t>50 cents.</a:t>
            </a:r>
            <a:r>
              <a:rPr sz="1800" b="0">
                <a:solidFill>
                  <a:srgbClr val="33415C"/>
                </a:solidFill>
                <a:latin typeface="Segoe UI"/>
              </a:rPr>
              <a:t> The whole product story is this gap.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At one big bank scale:  </a:t>
            </a:r>
            <a:r>
              <a:rPr sz="1700" b="0">
                <a:solidFill>
                  <a:srgbClr val="33415C"/>
                </a:solidFill>
                <a:latin typeface="Segoe UI"/>
              </a:rPr>
              <a:t>≈ </a:t>
            </a:r>
            <a:r>
              <a:rPr sz="1700" b="1">
                <a:solidFill>
                  <a:srgbClr val="0F1B2D"/>
                </a:solidFill>
                <a:latin typeface="Segoe UI"/>
              </a:rPr>
              <a:t>$66 M/yr</a:t>
            </a:r>
            <a:r>
              <a:rPr sz="1700" b="0">
                <a:solidFill>
                  <a:srgbClr val="33415C"/>
                </a:solidFill>
                <a:latin typeface="Segoe UI"/>
              </a:rPr>
              <a:t> of prevented losses. That's the five-frame model: 1.56 M risky calls × 1.33 % scams × $5,700 × 80 % caught × 70 % stopped.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False alarms are cheap:  </a:t>
            </a:r>
            <a:r>
              <a:rPr sz="1700" b="0">
                <a:solidFill>
                  <a:srgbClr val="33415C"/>
                </a:solidFill>
                <a:latin typeface="Segoe UI"/>
              </a:rPr>
              <a:t>worst case, the customer confirms in the app. Nobody is ever locked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331720"/>
            <a:ext cx="4114800" cy="237744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256032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1">
                <a:solidFill>
                  <a:srgbClr val="0E9F6E"/>
                </a:solidFill>
                <a:latin typeface="Segoe UI"/>
              </a:rPr>
              <a:t>~100×</a:t>
            </a:r>
          </a:p>
          <a:p>
            <a:r>
              <a:rPr sz="1400" b="0">
                <a:solidFill>
                  <a:srgbClr val="33415C"/>
                </a:solidFill>
                <a:latin typeface="Segoe UI"/>
              </a:rPr>
              <a:t>return on the checking cost: a 50-cent check that catches a $5,700 theft.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02920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4748B"/>
                </a:solidFill>
                <a:latin typeface="Segoe UI"/>
              </a:rPr>
              <a:t>Latency: p50 &lt; 1 s per slice on the deployed build — inside the decision window.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5 ·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Banks pay for it — and starting needs zero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Who pays:  </a:t>
            </a:r>
            <a:r>
              <a:rPr sz="1700" b="0">
                <a:solidFill>
                  <a:srgbClr val="33415C"/>
                </a:solidFill>
                <a:latin typeface="Segoe UI"/>
              </a:rPr>
              <a:t>the bank's fraud team. A bank can't stop a </a:t>
            </a:r>
            <a:r>
              <a:rPr sz="1700" b="1">
                <a:solidFill>
                  <a:srgbClr val="0F1B2D"/>
                </a:solidFill>
                <a:latin typeface="Segoe UI"/>
              </a:rPr>
              <a:t>perfect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from inside its own call centre — the clone is its own agent's voice. Only the </a:t>
            </a:r>
            <a:r>
              <a:rPr sz="1700" b="1">
                <a:solidFill>
                  <a:srgbClr val="0F1B2D"/>
                </a:solidFill>
                <a:latin typeface="Segoe UI"/>
              </a:rPr>
              <a:t>customer's side</a:t>
            </a:r>
            <a:r>
              <a:rPr sz="1700" b="0">
                <a:solidFill>
                  <a:srgbClr val="33415C"/>
                </a:solidFill>
                <a:latin typeface="Segoe UI"/>
              </a:rPr>
              <a:t> can.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Starting takes a day, not a dataset: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banks already record their agents for compliance. Take </a:t>
            </a:r>
            <a:r>
              <a:rPr sz="1700" b="1">
                <a:solidFill>
                  <a:srgbClr val="0F1B2D"/>
                </a:solidFill>
                <a:latin typeface="Segoe UI"/>
              </a:rPr>
              <a:t>15–60 s of that recording</a:t>
            </a:r>
            <a:r>
              <a:rPr sz="1700" b="0">
                <a:solidFill>
                  <a:srgbClr val="33415C"/>
                </a:solidFill>
                <a:latin typeface="Segoe UI"/>
              </a:rPr>
              <a:t>, enrol it — done. </a:t>
            </a:r>
            <a:r>
              <a:rPr sz="1700" b="1">
                <a:solidFill>
                  <a:srgbClr val="0F1B2D"/>
                </a:solidFill>
                <a:latin typeface="Segoe UI"/>
              </a:rPr>
              <a:t>We train nothing.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The honest scoreboard:  </a:t>
            </a:r>
            <a:r>
              <a:rPr sz="1700" b="0">
                <a:solidFill>
                  <a:srgbClr val="33415C"/>
                </a:solidFill>
                <a:latin typeface="Segoe UI"/>
              </a:rPr>
              <a:t>live now — 3 attacked calls + your own voice, every failure fails *safe* (amber, never auto-approve). Next — the phone-network version. We say which is which.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First pilot: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6 weeks, flagged calls only. Success = one caught scam with the full evidence log shown — then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