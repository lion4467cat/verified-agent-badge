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in-product docs: Impact · Calibration · Scale &amp; Viability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Who: </a:t>
            </a:r>
            <a:r>
              <a:rPr sz="1500" b="0">
                <a:solidFill>
                  <a:srgbClr val="33415C"/>
                </a:solidFill>
                <a:latin typeface="Segoe UI"/>
              </a:rPr>
              <a:t>a retail-bank customer. The phone rings: “This is your bank's verification desk about a transaction of </a:t>
            </a:r>
            <a:r>
              <a:rPr sz="1500" b="1">
                <a:solidFill>
                  <a:srgbClr val="0F1B2D"/>
                </a:solidFill>
                <a:latin typeface="Segoe UI"/>
              </a:rPr>
              <a:t>₹86,499</a:t>
            </a:r>
            <a:r>
              <a:rPr sz="1500" b="0">
                <a:solidFill>
                  <a:srgbClr val="33415C"/>
                </a:solidFill>
                <a:latin typeface="Segoe UI"/>
              </a:rPr>
              <a:t> on your card, above your limit.”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The fraud moment: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“bank agent” is an imposter — a cloned voice that sounds exactly like the real assistant, walking the customer into approving the payment or reading an OTP.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Why today's process fails, control by control: </a:t>
            </a:r>
            <a:r>
              <a:rPr sz="1500" b="0">
                <a:solidFill>
                  <a:srgbClr val="33415C"/>
                </a:solidFill>
                <a:latin typeface="Segoe UI"/>
              </a:rPr>
              <a:t>caller ID is </a:t>
            </a:r>
            <a:r>
              <a:rPr sz="1500" b="1">
                <a:solidFill>
                  <a:srgbClr val="0F1B2D"/>
                </a:solidFill>
                <a:latin typeface="Segoe UI"/>
              </a:rPr>
              <a:t>spoofable</a:t>
            </a:r>
            <a:r>
              <a:rPr sz="1500" b="0">
                <a:solidFill>
                  <a:srgbClr val="33415C"/>
                </a:solidFill>
                <a:latin typeface="Segoe UI"/>
              </a:rPr>
              <a:t>; KYC questions </a:t>
            </a:r>
            <a:r>
              <a:rPr sz="1500" b="1">
                <a:solidFill>
                  <a:srgbClr val="0F1B2D"/>
                </a:solidFill>
                <a:latin typeface="Segoe UI"/>
              </a:rPr>
              <a:t>leak</a:t>
            </a:r>
            <a:r>
              <a:rPr sz="1500" b="0">
                <a:solidFill>
                  <a:srgbClr val="33415C"/>
                </a:solidFill>
                <a:latin typeface="Segoe UI"/>
              </a:rPr>
              <a:t> to the caller; “we never ask for X” </a:t>
            </a:r>
            <a:r>
              <a:rPr sz="1500" b="1">
                <a:solidFill>
                  <a:srgbClr val="0F1B2D"/>
                </a:solidFill>
                <a:latin typeface="Segoe UI"/>
              </a:rPr>
              <a:t>collapses</a:t>
            </a:r>
            <a:r>
              <a:rPr sz="1500" b="0">
                <a:solidFill>
                  <a:srgbClr val="33415C"/>
                </a:solidFill>
                <a:latin typeface="Segoe UI"/>
              </a:rPr>
              <a:t> when the caller sounds like the bank. The customer has </a:t>
            </a:r>
            <a:r>
              <a:rPr sz="1500" b="1">
                <a:solidFill>
                  <a:srgbClr val="0F1B2D"/>
                </a:solidFill>
                <a:latin typeface="Segoe UI"/>
              </a:rPr>
              <a:t>no way to verify who is speaking</a:t>
            </a:r>
            <a:r>
              <a:rPr sz="15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Evidence: </a:t>
            </a:r>
            <a:r>
              <a:rPr sz="1500" b="0">
                <a:solidFill>
                  <a:srgbClr val="33415C"/>
                </a:solidFill>
                <a:latin typeface="Segoe UI"/>
              </a:rPr>
              <a:t>FTC 2024: </a:t>
            </a:r>
            <a:r>
              <a:rPr sz="1500" b="1">
                <a:solidFill>
                  <a:srgbClr val="0F1B2D"/>
                </a:solidFill>
                <a:latin typeface="Segoe UI"/>
              </a:rPr>
              <a:t>$1.25 B</a:t>
            </a:r>
            <a:r>
              <a:rPr sz="1500" b="0">
                <a:solidFill>
                  <a:srgbClr val="33415C"/>
                </a:solidFill>
                <a:latin typeface="Segoe UI"/>
              </a:rPr>
              <a:t> reported fraud losses; UK APP ≈ </a:t>
            </a:r>
            <a:r>
              <a:rPr sz="1500" b="1">
                <a:solidFill>
                  <a:srgbClr val="0F1B2D"/>
                </a:solidFill>
                <a:latin typeface="Segoe UI"/>
              </a:rPr>
              <a:t>£149 M</a:t>
            </a:r>
            <a:r>
              <a:rPr sz="1500" b="0">
                <a:solidFill>
                  <a:srgbClr val="33415C"/>
                </a:solidFill>
                <a:latin typeface="Segoe UI"/>
              </a:rPr>
              <a:t> with voice cloning rising; ≈ </a:t>
            </a:r>
            <a:r>
              <a:rPr sz="1500" b="1">
                <a:solidFill>
                  <a:srgbClr val="0F1B2D"/>
                </a:solidFill>
                <a:latin typeface="Segoe UI"/>
              </a:rPr>
              <a:t>$5,700</a:t>
            </a:r>
            <a:r>
              <a:rPr sz="1500" b="0">
                <a:solidFill>
                  <a:srgbClr val="33415C"/>
                </a:solidFill>
                <a:latin typeface="Segoe UI"/>
              </a:rPr>
              <a:t> median loss per incident.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Unchanged from registration (rule 3.7): </a:t>
            </a:r>
            <a:r>
              <a:rPr sz="1500" b="0">
                <a:solidFill>
                  <a:srgbClr val="33415C"/>
                </a:solidFill>
                <a:latin typeface="Segoe UI"/>
              </a:rPr>
              <a:t>same user, same problem. Day 2 deepens the product; the registered problem is quoted in the product itself.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in-product docs: Impact · Calibration · Scale &amp; Viability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Verified-Agent Badge: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user side verifies the bank's agent. The bank already authenticates us; </a:t>
            </a:r>
            <a:r>
              <a:rPr sz="1500" b="1">
                <a:solidFill>
                  <a:srgbClr val="0F1B2D"/>
                </a:solidFill>
                <a:latin typeface="Segoe UI"/>
              </a:rPr>
              <a:t>nobody authenticates it</a:t>
            </a:r>
            <a:r>
              <a:rPr sz="15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Live, not staged: </a:t>
            </a:r>
            <a:r>
              <a:rPr sz="1500" b="0">
                <a:solidFill>
                  <a:srgbClr val="33415C"/>
                </a:solidFill>
                <a:latin typeface="Segoe UI"/>
              </a:rPr>
              <a:t>press </a:t>
            </a:r>
            <a:r>
              <a:rPr sz="1500" b="1">
                <a:solidFill>
                  <a:srgbClr val="0F1B2D"/>
                </a:solidFill>
                <a:latin typeface="Segoe UI"/>
              </a:rPr>
              <a:t>Enrol my voice</a:t>
            </a:r>
            <a:r>
              <a:rPr sz="1500" b="0">
                <a:solidFill>
                  <a:srgbClr val="33415C"/>
                </a:solidFill>
                <a:latin typeface="Segoe UI"/>
              </a:rPr>
              <a:t> — 20 s in your browser — then </a:t>
            </a:r>
            <a:r>
              <a:rPr sz="1500" b="1">
                <a:solidFill>
                  <a:srgbClr val="0F1B2D"/>
                </a:solidFill>
                <a:latin typeface="Segoe UI"/>
              </a:rPr>
              <a:t>Verify me now</a:t>
            </a:r>
            <a:r>
              <a:rPr sz="1500" b="0">
                <a:solidFill>
                  <a:srgbClr val="33415C"/>
                </a:solidFill>
                <a:latin typeface="Segoe UI"/>
              </a:rPr>
              <a:t>: a 6 s window captured in the browser, verified through DetectifAI, </a:t>
            </a:r>
            <a:r>
              <a:rPr sz="1500" b="1">
                <a:solidFill>
                  <a:srgbClr val="0F1B2D"/>
                </a:solidFill>
                <a:latin typeface="Segoe UI"/>
              </a:rPr>
              <a:t>never on disk</a:t>
            </a:r>
            <a:r>
              <a:rPr sz="1500" b="0">
                <a:solidFill>
                  <a:srgbClr val="33415C"/>
                </a:solidFill>
                <a:latin typeface="Segoe UI"/>
              </a:rPr>
              <a:t>. An impostor clip against your enrolment is </a:t>
            </a:r>
            <a:r>
              <a:rPr sz="1500" b="1">
                <a:solidFill>
                  <a:srgbClr val="0F1B2D"/>
                </a:solidFill>
                <a:latin typeface="Segoe UI"/>
              </a:rPr>
              <a:t>held</a:t>
            </a:r>
            <a:r>
              <a:rPr sz="1500" b="0">
                <a:solidFill>
                  <a:srgbClr val="33415C"/>
                </a:solidFill>
                <a:latin typeface="Segoe UI"/>
              </a:rPr>
              <a:t>. Upload fallback if the mic is blocked.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A decision that acts: </a:t>
            </a:r>
            <a:r>
              <a:rPr sz="1500" b="0">
                <a:solidFill>
                  <a:srgbClr val="33415C"/>
                </a:solidFill>
                <a:latin typeface="Segoe UI"/>
              </a:rPr>
              <a:t>every window mutates a server-side </a:t>
            </a:r>
            <a:r>
              <a:rPr sz="1500" b="1">
                <a:solidFill>
                  <a:srgbClr val="0F1B2D"/>
                </a:solidFill>
                <a:latin typeface="Segoe UI"/>
              </a:rPr>
              <a:t>transaction object</a:t>
            </a:r>
            <a:r>
              <a:rPr sz="1500" b="0">
                <a:solidFill>
                  <a:srgbClr val="33415C"/>
                </a:solidFill>
                <a:latin typeface="Segoe UI"/>
              </a:rPr>
              <a:t> — pending → proceed / step_up / hold. A hold </a:t>
            </a:r>
            <a:r>
              <a:rPr sz="1500" b="1">
                <a:solidFill>
                  <a:srgbClr val="0F1B2D"/>
                </a:solidFill>
                <a:latin typeface="Segoe UI"/>
              </a:rPr>
              <a:t>terminates the call and blocks the payment</a:t>
            </a:r>
            <a:r>
              <a:rPr sz="1500" b="0">
                <a:solidFill>
                  <a:srgbClr val="33415C"/>
                </a:solidFill>
                <a:latin typeface="Segoe UI"/>
              </a:rPr>
              <a:t>; the state is readable in the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343400"/>
            <a:ext cx="338328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4434840"/>
            <a:ext cx="316382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E9F6E"/>
                </a:solidFill>
                <a:latin typeface="Segoe UI"/>
              </a:rPr>
              <a:t>PROCEED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identity with margin + every segment real + no replay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4343400"/>
            <a:ext cx="338328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4434840"/>
            <a:ext cx="316382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88600"/>
                </a:solidFill>
                <a:latin typeface="Segoe UI"/>
              </a:rPr>
              <a:t>STEP UP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thin evidence, digital render, 422 → in-app confirmation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4343400"/>
            <a:ext cx="356616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4434840"/>
            <a:ext cx="334670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mismatch · any hot segment · re-sent audio →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C"/>
                </a:solidFill>
                <a:latin typeface="Segoe UI"/>
              </a:rPr>
              <a:t>Two clocks on screen: the </a:t>
            </a:r>
            <a:r>
              <a:rPr sz="1250" b="1">
                <a:solidFill>
                  <a:srgbClr val="0F1B2D"/>
                </a:solidFill>
                <a:latin typeface="Segoe UI"/>
              </a:rPr>
              <a:t>risk timeline</a:t>
            </a:r>
            <a:r>
              <a:rPr sz="1250" b="0">
                <a:solidFill>
                  <a:srgbClr val="33415C"/>
                </a:solidFill>
                <a:latin typeface="Segoe UI"/>
              </a:rPr>
              <a:t> shows which window is being checked; the </a:t>
            </a:r>
            <a:r>
              <a:rPr sz="1250" b="1">
                <a:solidFill>
                  <a:srgbClr val="0F1B2D"/>
                </a:solidFill>
                <a:latin typeface="Segoe UI"/>
              </a:rPr>
              <a:t>transaction badge</a:t>
            </a:r>
            <a:r>
              <a:rPr sz="1250" b="0">
                <a:solidFill>
                  <a:srgbClr val="33415C"/>
                </a:solidFill>
                <a:latin typeface="Segoe UI"/>
              </a:rPr>
              <a:t> shows payment state. Judges verify everything by trying it — including speaking themselves.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F1B2D"/>
                </a:solidFill>
                <a:latin typeface="Segoe UI"/>
              </a:rPr>
              <a:t>DetectifAI — the engine, not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in-product docs: Impact · Calibration · Scale &amp; Viability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Both checks, one call: </a:t>
            </a:r>
            <a:r>
              <a:rPr sz="1300" b="0">
                <a:solidFill>
                  <a:srgbClr val="33415C"/>
                </a:solidFill>
                <a:latin typeface="Segoe UI"/>
              </a:rPr>
              <a:t>POST /v1/speakers/verify with detect_deepfake=true — speaker verification against the enrolled agent plus synthetic-speech detection as </a:t>
            </a:r>
            <a:r>
              <a:rPr sz="1300" b="1">
                <a:solidFill>
                  <a:srgbClr val="0F1B2D"/>
                </a:solidFill>
                <a:latin typeface="Segoe UI"/>
              </a:rPr>
              <a:t>4 s segments at 2 s stride</a:t>
            </a:r>
            <a:r>
              <a:rPr sz="13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Depth — act on the worst segment: </a:t>
            </a:r>
            <a:r>
              <a:rPr sz="1300" b="0">
                <a:solidFill>
                  <a:srgbClr val="33415C"/>
                </a:solidFill>
                <a:latin typeface="Segoe UI"/>
              </a:rPr>
              <a:t>an aggregate can launder a 3-second clone. The policy holds on the </a:t>
            </a:r>
            <a:r>
              <a:rPr sz="1300" b="1">
                <a:solidFill>
                  <a:srgbClr val="0F1B2D"/>
                </a:solidFill>
                <a:latin typeface="Segoe UI"/>
              </a:rPr>
              <a:t>segment maximum</a:t>
            </a:r>
            <a:r>
              <a:rPr sz="13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Two signals, layered: </a:t>
            </a:r>
            <a:r>
              <a:rPr sz="1300" b="1">
                <a:solidFill>
                  <a:srgbClr val="0F1B2D"/>
                </a:solidFill>
                <a:latin typeface="Segoe UI"/>
              </a:rPr>
              <a:t>capture-and-replay</a:t>
            </a:r>
            <a:r>
              <a:rPr sz="1300" b="0">
                <a:solidFill>
                  <a:srgbClr val="33415C"/>
                </a:solidFill>
                <a:latin typeface="Segoe UI"/>
              </a:rPr>
              <a:t> — identical audio re-sent mid-call is held on content identity; </a:t>
            </a:r>
            <a:r>
              <a:rPr sz="1300" b="1">
                <a:solidFill>
                  <a:srgbClr val="0F1B2D"/>
                </a:solidFill>
                <a:latin typeface="Segoe UI"/>
              </a:rPr>
              <a:t>stdlib forensics</a:t>
            </a:r>
            <a:r>
              <a:rPr sz="1300" b="0">
                <a:solidFill>
                  <a:srgbClr val="33415C"/>
                </a:solidFill>
                <a:latin typeface="Segoe UI"/>
              </a:rPr>
              <a:t> — digital render artifact ≥ 0.85 escalates (never convicts). Weights live in one policy module.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Calibrated, transfer-checked: </a:t>
            </a:r>
            <a:r>
              <a:rPr sz="1300" b="0">
                <a:solidFill>
                  <a:srgbClr val="33415C"/>
                </a:solidFill>
                <a:latin typeface="Segoe UI"/>
              </a:rPr>
              <a:t>n = </a:t>
            </a:r>
            <a:r>
              <a:rPr sz="1300" b="1">
                <a:solidFill>
                  <a:srgbClr val="0F1B2D"/>
                </a:solidFill>
                <a:latin typeface="Segoe UI"/>
              </a:rPr>
              <a:t>27 labelled segments</a:t>
            </a:r>
            <a:r>
              <a:rPr sz="1300" b="0">
                <a:solidFill>
                  <a:srgbClr val="33415C"/>
                </a:solidFill>
                <a:latin typeface="Segoe UI"/>
              </a:rPr>
              <a:t>, two transform families, two voices. Genuine/clone separation is complete (genuine ≤ 0.021 vs clone ≥ 0.998) and </a:t>
            </a:r>
            <a:r>
              <a:rPr sz="1300" b="1">
                <a:solidFill>
                  <a:srgbClr val="0F1B2D"/>
                </a:solidFill>
                <a:latin typeface="Segoe UI"/>
              </a:rPr>
              <a:t>transfers</a:t>
            </a:r>
            <a:r>
              <a:rPr sz="1300" b="0">
                <a:solidFill>
                  <a:srgbClr val="33415C"/>
                </a:solidFill>
                <a:latin typeface="Segoe UI"/>
              </a:rPr>
              <a:t> — including through a telephony band-pass. Honest caveat: FAR/FRR vs unseen real speakers is open — “tuned and transfer-checked”, not “validated”.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Fail-closed: </a:t>
            </a:r>
            <a:r>
              <a:rPr sz="1300" b="0">
                <a:solidFill>
                  <a:srgbClr val="33415C"/>
                </a:solidFill>
                <a:latin typeface="Segoe UI"/>
              </a:rPr>
              <a:t>silent (422), partial evidence, 5xx and budget-exhaustion all step up. </a:t>
            </a:r>
            <a:r>
              <a:rPr sz="1300" b="1">
                <a:solidFill>
                  <a:srgbClr val="0F1B2D"/>
                </a:solidFill>
                <a:latin typeface="Segoe UI"/>
              </a:rPr>
              <a:t>No error path returns proceed.</a:t>
            </a:r>
            <a:r>
              <a:rPr sz="1300" b="0">
                <a:solidFill>
                  <a:srgbClr val="33415C"/>
                </a:solidFill>
                <a:latin typeface="Segoe UI"/>
              </a:rPr>
              <a:t> Fresh, credit-paying runs are an explicit opt-in behind a per-session cap.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645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6394B"/>
                </a:solidFill>
                <a:latin typeface="Segoe UI"/>
              </a:rPr>
              <a:t>AGGREGATE-BLIND HIJACK — HELD (live API)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20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voice similarity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965960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893630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29546" y="1901952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5639" y="191109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0.767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2494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AI-gen 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295144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2295144"/>
            <a:ext cx="832012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1745" y="2231136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39" y="2240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0.337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2552" y="2615184"/>
            <a:ext cx="4882896" cy="420623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263347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66427" y="263347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12015" y="263347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3190" y="2633472"/>
            <a:ext cx="745587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48778" y="2633472"/>
            <a:ext cx="745587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307238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aggregate says “real” — segment max 0.999 at 8–13 s → 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0156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B2D"/>
                </a:solidFill>
                <a:latin typeface="Segoe UI"/>
              </a:rPr>
              <a:t>An aggregate-only policy approves this call.</a:t>
            </a:r>
            <a:r>
              <a:rPr sz="1150" b="0">
                <a:solidFill>
                  <a:srgbClr val="33415C"/>
                </a:solidFill>
                <a:latin typeface="Segoe UI"/>
              </a:rPr>
              <a:t> Only the segment view catches the clone.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05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6394B"/>
                </a:solidFill>
                <a:latin typeface="Segoe UI"/>
              </a:rPr>
              <a:t>SECOND TRANSFER CHECK — HELD (fresh score)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434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voice similarity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480559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4480559"/>
            <a:ext cx="120975" cy="146304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29546" y="4416552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39" y="442569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D6394B"/>
                </a:solidFill>
                <a:latin typeface="Segoe UI"/>
              </a:rPr>
              <a:t>0.049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7640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AI-gen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4809744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4809744"/>
            <a:ext cx="2466411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51745" y="4745736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5639" y="47548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0.999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02552" y="5129784"/>
            <a:ext cx="4882896" cy="420623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720840" y="5148072"/>
            <a:ext cx="1938528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659367" y="5148072"/>
            <a:ext cx="484632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5586983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engine-2 pitch-converted TTS: segs 0.999 / 0.9993 → HOLD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587044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415C"/>
                </a:solidFill>
                <a:latin typeface="Segoe UI"/>
              </a:rPr>
              <a:t>Telephony-band variant of the same attack: still </a:t>
            </a:r>
            <a:r>
              <a:rPr sz="1100" b="1">
                <a:solidFill>
                  <a:srgbClr val="0F1B2D"/>
                </a:solidFill>
                <a:latin typeface="Segoe UI"/>
              </a:rPr>
              <a:t>0.998</a:t>
            </a:r>
            <a:r>
              <a:rPr sz="1100" b="0">
                <a:solidFill>
                  <a:srgbClr val="33415C"/>
                </a:solidFill>
                <a:latin typeface="Segoe UI"/>
              </a:rPr>
              <a:t> — band-limiting helps detection.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in-product docs: Impact · Calibration · Scale &amp; Viability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6766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0F1B2D"/>
                </a:solidFill>
                <a:latin typeface="Segoe UI"/>
              </a:rPr>
              <a:t>The model, five visible inputs: </a:t>
            </a:r>
            <a:r>
              <a:rPr sz="1400" b="0">
                <a:solidFill>
                  <a:srgbClr val="33415C"/>
                </a:solidFill>
                <a:latin typeface="Segoe UI"/>
              </a:rPr>
              <a:t>1.56 M flagged calls/yr [A] × 1.33 % incidence [FTC/UK-APP] × $5,700 avg loss [FTC] × 80 % detection [calibration] × 70 % step-up conversion [A] ≈ </a:t>
            </a:r>
            <a:r>
              <a:rPr sz="1400" b="1">
                <a:solidFill>
                  <a:srgbClr val="0F1B2D"/>
                </a:solidFill>
                <a:latin typeface="Segoe UI"/>
              </a:rPr>
              <a:t>$66 M / yr prevented per mid-size bank</a:t>
            </a:r>
            <a:r>
              <a:rPr sz="14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F1B2D"/>
                </a:solidFill>
                <a:latin typeface="Segoe UI"/>
              </a:rPr>
              <a:t>The number the deck was missing — precision at prevalence: </a:t>
            </a:r>
            <a:r>
              <a:rPr sz="1400" b="0">
                <a:solidFill>
                  <a:srgbClr val="33415C"/>
                </a:solidFill>
                <a:latin typeface="Segoe UI"/>
              </a:rPr>
              <a:t>screening flagged traffic gives ~</a:t>
            </a:r>
            <a:r>
              <a:rPr sz="1400" b="1">
                <a:solidFill>
                  <a:srgbClr val="0F1B2D"/>
                </a:solidFill>
                <a:latin typeface="Segoe UI"/>
              </a:rPr>
              <a:t>52 %</a:t>
            </a:r>
            <a:r>
              <a:rPr sz="1400" b="0">
                <a:solidFill>
                  <a:srgbClr val="33415C"/>
                </a:solidFill>
                <a:latin typeface="Segoe UI"/>
              </a:rPr>
              <a:t> precision at 80 % recall / 1 % FPR, ≈ </a:t>
            </a:r>
            <a:r>
              <a:rPr sz="1400" b="1">
                <a:solidFill>
                  <a:srgbClr val="0F1B2D"/>
                </a:solidFill>
                <a:latin typeface="Segoe UI"/>
              </a:rPr>
              <a:t>10 false alarms per 1,000</a:t>
            </a:r>
            <a:r>
              <a:rPr sz="1400" b="0">
                <a:solidFill>
                  <a:srgbClr val="33415C"/>
                </a:solidFill>
                <a:latin typeface="Segoe UI"/>
              </a:rPr>
              <a:t> genuine flagged calls — one false step-up per real catch. The same rates on the full inbound firehose give ~7 %: </a:t>
            </a:r>
            <a:r>
              <a:rPr sz="1400" b="1">
                <a:solidFill>
                  <a:srgbClr val="0F1B2D"/>
                </a:solidFill>
                <a:latin typeface="Segoe UI"/>
              </a:rPr>
              <a:t>screen flagged traffic, not the firehose</a:t>
            </a:r>
            <a:r>
              <a:rPr sz="1400" b="0">
                <a:solidFill>
                  <a:srgbClr val="33415C"/>
                </a:solidFill>
                <a:latin typeface="Segoe UI"/>
              </a:rPr>
              <a:t> is the design thesis.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F1B2D"/>
                </a:solidFill>
                <a:latin typeface="Segoe UI"/>
              </a:rPr>
              <a:t>Latency, measured: </a:t>
            </a:r>
            <a:r>
              <a:rPr sz="1400" b="1">
                <a:solidFill>
                  <a:srgbClr val="0F1B2D"/>
                </a:solidFill>
                <a:latin typeface="Segoe UI"/>
              </a:rPr>
              <a:t>p50 0.6–2.6 s</a:t>
            </a:r>
            <a:r>
              <a:rPr sz="1400" b="0">
                <a:solidFill>
                  <a:srgbClr val="33415C"/>
                </a:solidFill>
                <a:latin typeface="Segoe UI"/>
              </a:rPr>
              <a:t> per window on the deployed build; the intervention point is the payment authorisation — inside the window. L3 telephony (blocking mid-conversation) is declared future work.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F1B2D"/>
                </a:solidFill>
                <a:latin typeface="Segoe UI"/>
              </a:rPr>
              <a:t>Customer cost bounded: </a:t>
            </a:r>
            <a:r>
              <a:rPr sz="1400" b="0">
                <a:solidFill>
                  <a:srgbClr val="33415C"/>
                </a:solidFill>
                <a:latin typeface="Segoe UI"/>
              </a:rPr>
              <a:t>a false hold ends the call — the customer uses the app. Inconvenience, never lockout.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011680"/>
            <a:ext cx="3840480" cy="182880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176272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0E9F6E"/>
                </a:solidFill>
                <a:latin typeface="Segoe UI"/>
              </a:rPr>
              <a:t>$0.87</a:t>
            </a:r>
          </a:p>
          <a:p>
            <a:r>
              <a:rPr sz="1250" b="0">
                <a:solidFill>
                  <a:srgbClr val="33415C"/>
                </a:solidFill>
                <a:latin typeface="Segoe UI"/>
              </a:rPr>
              <a:t>cost per caught fraud — ≈ $0.45 per analysed flagged call ÷ 52 % precision, against a $5,700 average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406908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C"/>
                </a:solidFill>
                <a:latin typeface="Segoe UI"/>
              </a:rPr>
              <a:t>Every avoided incident also avoids the </a:t>
            </a:r>
            <a:r>
              <a:rPr sz="1200" b="1">
                <a:solidFill>
                  <a:srgbClr val="0F1B2D"/>
                </a:solidFill>
                <a:latin typeface="Segoe UI"/>
              </a:rPr>
              <a:t>customer-trust cost</a:t>
            </a:r>
            <a:r>
              <a:rPr sz="1200" b="0">
                <a:solidFill>
                  <a:srgbClr val="33415C"/>
                </a:solidFill>
                <a:latin typeface="Segoe UI"/>
              </a:rPr>
              <a:t> of a bank-branded fraud call. Full model with every assumption tagged: the </a:t>
            </a:r>
            <a:r>
              <a:rPr sz="1200" b="1">
                <a:solidFill>
                  <a:srgbClr val="0F1B2D"/>
                </a:solidFill>
                <a:latin typeface="Segoe UI"/>
              </a:rPr>
              <a:t>Impact</a:t>
            </a:r>
            <a:r>
              <a:rPr sz="1200" b="0">
                <a:solidFill>
                  <a:srgbClr val="33415C"/>
                </a:solidFill>
                <a:latin typeface="Segoe UI"/>
              </a:rPr>
              <a:t> page in the 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Scale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in-product docs: Impact · Calibration · Scale &amp; Viability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Who pays, and why a user-side verifier wins the channel conflict: </a:t>
            </a:r>
            <a:r>
              <a:rPr sz="1300" b="0">
                <a:solidFill>
                  <a:srgbClr val="33415C"/>
                </a:solidFill>
                <a:latin typeface="Segoe UI"/>
              </a:rPr>
              <a:t>the bank's fraud-ops + digital-channels team. The conflict (revenue wants the call; risk stops it) is resolved </a:t>
            </a:r>
            <a:r>
              <a:rPr sz="1300" b="1">
                <a:solidFill>
                  <a:srgbClr val="0F1B2D"/>
                </a:solidFill>
                <a:latin typeface="Segoe UI"/>
              </a:rPr>
              <a:t>structurally</a:t>
            </a:r>
            <a:r>
              <a:rPr sz="1300" b="0">
                <a:solidFill>
                  <a:srgbClr val="33415C"/>
                </a:solidFill>
                <a:latin typeface="Segoe UI"/>
              </a:rPr>
              <a:t>: the verifier is the </a:t>
            </a:r>
            <a:r>
              <a:rPr sz="1300" b="1">
                <a:solidFill>
                  <a:srgbClr val="0F1B2D"/>
                </a:solidFill>
                <a:latin typeface="Segoe UI"/>
              </a:rPr>
              <a:t>customer's</a:t>
            </a:r>
            <a:r>
              <a:rPr sz="1300" b="0">
                <a:solidFill>
                  <a:srgbClr val="33415C"/>
                </a:solidFill>
                <a:latin typeface="Segoe UI"/>
              </a:rPr>
              <a:t> control, so it protects the one case the contact centre cannot see — a perfect clone of the agent's own voice — and produces the decision log regulators ask for.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Distribution: </a:t>
            </a:r>
            <a:r>
              <a:rPr sz="1300" b="0">
                <a:solidFill>
                  <a:srgbClr val="33415C"/>
                </a:solidFill>
                <a:latin typeface="Segoe UI"/>
              </a:rPr>
              <a:t>SDK in the bank's app (where the step-up prompt already lives), then CCaaS. Telephony is the later expansion.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Day-1 question — answered productised: </a:t>
            </a:r>
            <a:r>
              <a:rPr sz="1300" b="1">
                <a:solidFill>
                  <a:srgbClr val="0F1B2D"/>
                </a:solidFill>
                <a:latin typeface="Segoe UI"/>
              </a:rPr>
              <a:t>we don't train.</a:t>
            </a:r>
            <a:r>
              <a:rPr sz="1300" b="0">
                <a:solidFill>
                  <a:srgbClr val="33415C"/>
                </a:solidFill>
                <a:latin typeface="Segoe UI"/>
              </a:rPr>
              <a:t> The runbook (Scale page): source = the bank's own compliance recordings of the payment-desk roster; basis = same privacy basis as the recordings; store = vendor template only, we hold ids and scores; delete = one call per offboarding agent, evidenced in the log.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Pilot: </a:t>
            </a:r>
            <a:r>
              <a:rPr sz="1300" b="0">
                <a:solidFill>
                  <a:srgbClr val="33415C"/>
                </a:solidFill>
                <a:latin typeface="Segoe UI"/>
              </a:rPr>
              <a:t>above-limit flagged calls · metric = prevented loss with false-step-up ≤ 2 % · 6 weeks · success = ≥1 prevented incident with a full decision log.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B2D"/>
                </a:solidFill>
                <a:latin typeface="Segoe UI"/>
              </a:rPr>
              <a:t>What is verified vs what remains honest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945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E9F6E"/>
                </a:solidFill>
                <a:latin typeface="Segoe UI"/>
              </a:rPr>
              <a:t>Verified live</a:t>
            </a:r>
            <a:r>
              <a:rPr sz="1200" b="0">
                <a:solidFill>
                  <a:srgbClr val="33415C"/>
                </a:solidFill>
                <a:latin typeface="Segoe UI"/>
              </a:rPr>
              <a:t>genuine → PROCEEDS · hijack → HELD (call terminated) · subtle → HELD · silent → STEP UP · replay → HELD · render → STEP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127248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88600"/>
                </a:solidFill>
                <a:latin typeface="Segoe UI"/>
              </a:rPr>
              <a:t>Measurably open</a:t>
            </a:r>
            <a:r>
              <a:rPr sz="1200" b="0">
                <a:solidFill>
                  <a:srgbClr val="33415C"/>
                </a:solidFill>
                <a:latin typeface="Segoe UI"/>
              </a:rPr>
              <a:t>FAR/FRR vs unseen real speakers · second true TTS engine · mic flow rehearsed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59935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D6394B"/>
                </a:solidFill>
                <a:latin typeface="Segoe UI"/>
              </a:rPr>
              <a:t>Declared future work</a:t>
            </a:r>
            <a:r>
              <a:rPr sz="1200" b="0">
                <a:solidFill>
                  <a:srgbClr val="33415C"/>
                </a:solidFill>
                <a:latin typeface="Segoe UI"/>
              </a:rPr>
              <a:t>L3 telephony (mid-call block) · two-service attestation · real pilot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51663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B2D"/>
                </a:solidFill>
                <a:latin typeface="Segoe UI"/>
              </a:rPr>
              <a:t>Self-audit posture:</a:t>
            </a:r>
            <a:r>
              <a:rPr sz="1200" b="0">
                <a:solidFill>
                  <a:srgbClr val="33415C"/>
                </a:solidFill>
                <a:latin typeface="Segoe UI"/>
              </a:rPr>
              <a:t> the build is scored 57/70 pessimistically with the audit in the repo — the team-hours items (rehearsal, interviews) are the remaining gap, by design of the cutoff.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