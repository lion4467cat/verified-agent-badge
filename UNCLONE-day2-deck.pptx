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1 ·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The phone scam no amount of care can stop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0">
                <a:solidFill>
                  <a:srgbClr val="33415C"/>
                </a:solidFill>
                <a:latin typeface="Segoe UI"/>
              </a:rPr>
              <a:t>Your phone rings. </a:t>
            </a:r>
            <a:r>
              <a:rPr sz="1900" b="1">
                <a:solidFill>
                  <a:srgbClr val="0F1B2D"/>
                </a:solidFill>
                <a:latin typeface="Segoe UI"/>
              </a:rPr>
              <a:t>This is your bank about a Rs 86,499 payment above your limit.</a:t>
            </a:r>
            <a:r>
              <a:rPr sz="1900" b="0">
                <a:solidFill>
                  <a:srgbClr val="33415C"/>
                </a:solidFill>
                <a:latin typeface="Segoe UI"/>
              </a:rPr>
              <a:t> Name right, details right, voice right.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33415C"/>
                </a:solidFill>
                <a:latin typeface="Segoe UI"/>
              </a:rPr>
              <a:t>The voice is a </a:t>
            </a:r>
            <a:r>
              <a:rPr sz="1700" b="1">
                <a:solidFill>
                  <a:srgbClr val="0F1B2D"/>
                </a:solidFill>
                <a:latin typeface="Segoe UI"/>
              </a:rPr>
              <a:t>computer clone</a:t>
            </a:r>
            <a:r>
              <a:rPr sz="1700" b="0">
                <a:solidFill>
                  <a:srgbClr val="33415C"/>
                </a:solidFill>
                <a:latin typeface="Segoe UI"/>
              </a:rPr>
              <a:t> of the bank's agent. You cannot tell — no amount of care on your side helps.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33415C"/>
                </a:solidFill>
                <a:latin typeface="Segoe UI"/>
              </a:rPr>
              <a:t>The old guardrails are dead: caller ID is faked, the caller knows everything, and </a:t>
            </a:r>
            <a:r>
              <a:rPr sz="1700" b="1">
                <a:solidFill>
                  <a:srgbClr val="0F1B2D"/>
                </a:solidFill>
                <a:latin typeface="Segoe UI"/>
              </a:rPr>
              <a:t>they don't need you to tell them anything</a:t>
            </a:r>
            <a:r>
              <a:rPr sz="1700" b="0">
                <a:solidFill>
                  <a:srgbClr val="33415C"/>
                </a:solidFill>
                <a:latin typeface="Segoe UI"/>
              </a:rPr>
              <a:t> — they need you to agree.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33415C"/>
                </a:solidFill>
                <a:latin typeface="Segoe UI"/>
              </a:rPr>
              <a:t>Our idea: </a:t>
            </a:r>
            <a:r>
              <a:rPr sz="1700" b="1">
                <a:solidFill>
                  <a:srgbClr val="0F1B2D"/>
                </a:solidFill>
                <a:latin typeface="Segoe UI"/>
              </a:rPr>
              <a:t>let the customer verify the caller.</a:t>
            </a:r>
            <a:r>
              <a:rPr sz="1700" b="0">
                <a:solidFill>
                  <a:srgbClr val="33415C"/>
                </a:solidFill>
                <a:latin typeface="Segoe UI"/>
              </a:rPr>
              <a:t> Nobody is on the customer's side of the call today. We are.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2 ·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A traffic light for the phone call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33415C"/>
                </a:solidFill>
                <a:latin typeface="Segoe UI"/>
              </a:rPr>
              <a:t>An app on </a:t>
            </a:r>
            <a:r>
              <a:rPr sz="1550" b="1">
                <a:solidFill>
                  <a:srgbClr val="0F1B2D"/>
                </a:solidFill>
                <a:latin typeface="Segoe UI"/>
              </a:rPr>
              <a:t>your</a:t>
            </a:r>
            <a:r>
              <a:rPr sz="1550" b="0">
                <a:solidFill>
                  <a:srgbClr val="33415C"/>
                </a:solidFill>
                <a:latin typeface="Segoe UI"/>
              </a:rPr>
              <a:t> side of the call checks the audio it is given — the demo runs recorded call clips and your live mic through it, every 6 seconds: </a:t>
            </a:r>
            <a:r>
              <a:rPr sz="1550" b="1">
                <a:solidFill>
                  <a:srgbClr val="0F1B2D"/>
                </a:solidFill>
                <a:latin typeface="Segoe UI"/>
              </a:rPr>
              <a:t>is each slice the real enrolled agent, or a machine copying them?</a:t>
            </a:r>
            <a:r>
              <a:rPr sz="1550" b="0">
                <a:solidFill>
                  <a:srgbClr val="33415C"/>
                </a:solidFill>
                <a:latin typeface="Segoe UI"/>
              </a:rPr>
              <a:t> (Capturing the phone line itself is the next version.)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971800"/>
            <a:ext cx="3520440" cy="1234440"/>
          </a:xfrm>
          <a:prstGeom prst="round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0392" y="3136392"/>
            <a:ext cx="292608" cy="292608"/>
          </a:xfrm>
          <a:prstGeom prst="ellipse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52728" y="3072384"/>
            <a:ext cx="283464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E9F6E"/>
                </a:solidFill>
                <a:latin typeface="Segoe UI"/>
              </a:rPr>
              <a:t>GREEN · GO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33415C"/>
                </a:solidFill>
                <a:latin typeface="Segoe UI"/>
              </a:rPr>
              <a:t>Real agent voice, no machine parts. Carry on with the call.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971800"/>
            <a:ext cx="3520440" cy="1234440"/>
          </a:xfrm>
          <a:prstGeom prst="round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07992" y="3136392"/>
            <a:ext cx="292608" cy="292608"/>
          </a:xfrm>
          <a:prstGeom prst="ellipse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10328" y="3072384"/>
            <a:ext cx="283464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C88600"/>
                </a:solidFill>
                <a:latin typeface="Segoe UI"/>
              </a:rPr>
              <a:t>AMBER · DOUBLE-CHECK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33415C"/>
                </a:solidFill>
                <a:latin typeface="Segoe UI"/>
              </a:rPr>
              <a:t>Can't be sure. Confirm the payment in the app instead.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2971800"/>
            <a:ext cx="3566160" cy="1234440"/>
          </a:xfrm>
          <a:prstGeom prst="round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65592" y="3136392"/>
            <a:ext cx="292608" cy="292608"/>
          </a:xfrm>
          <a:prstGeom prst="ellipse">
            <a:avLst/>
          </a:prstGeom>
          <a:solidFill>
            <a:srgbClr val="D6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67928" y="3072384"/>
            <a:ext cx="288036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D6394B"/>
                </a:solidFill>
                <a:latin typeface="Segoe UI"/>
              </a:rPr>
              <a:t>RED · STOP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33415C"/>
                </a:solidFill>
                <a:latin typeface="Segoe UI"/>
              </a:rPr>
              <a:t>A fake was caught. The call is cut, the payment blocked.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6177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15C"/>
                </a:solidFill>
                <a:latin typeface="Segoe UI"/>
              </a:rPr>
              <a:t>The red light is not a warning — </a:t>
            </a:r>
            <a:r>
              <a:rPr sz="1600" b="1">
                <a:solidFill>
                  <a:srgbClr val="0F1B2D"/>
                </a:solidFill>
                <a:latin typeface="Segoe UI"/>
              </a:rPr>
              <a:t>watch the demo: the audio stops mid-sentence</a:t>
            </a:r>
            <a:r>
              <a:rPr sz="1600" b="0">
                <a:solidFill>
                  <a:srgbClr val="33415C"/>
                </a:solidFill>
                <a:latin typeface="Segoe UI"/>
              </a:rPr>
              <a:t> and the transaction flips to payment blocked.</a:t>
            </a:r>
          </a:p>
          <a:p>
            <a:r>
              <a:rPr sz="1400" b="0">
                <a:solidFill>
                  <a:srgbClr val="64748B"/>
                </a:solidFill>
                <a:latin typeface="Segoe UI"/>
              </a:rPr>
              <a:t>And it works on voices it has never heard: our judges can enrol their own voice and try it live.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3 · THE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Every attack — and which rule catches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15C"/>
                </a:solidFill>
                <a:latin typeface="Segoe UI"/>
              </a:rPr>
              <a:t>Four checks per 6-second slice: </a:t>
            </a:r>
            <a:r>
              <a:rPr sz="1600" b="1">
                <a:solidFill>
                  <a:srgbClr val="0F1B2D"/>
                </a:solidFill>
                <a:latin typeface="Segoe UI"/>
              </a:rPr>
              <a:t>two AI-model questions</a:t>
            </a:r>
            <a:r>
              <a:rPr sz="1600" b="0">
                <a:solidFill>
                  <a:srgbClr val="33415C"/>
                </a:solidFill>
                <a:latin typeface="Segoe UI"/>
              </a:rPr>
              <a:t> (identity, machine-voice) plus </a:t>
            </a:r>
            <a:r>
              <a:rPr sz="1600" b="1">
                <a:solidFill>
                  <a:srgbClr val="0F1B2D"/>
                </a:solidFill>
                <a:latin typeface="Segoe UI"/>
              </a:rPr>
              <a:t>two app-side checks</a:t>
            </a:r>
            <a:r>
              <a:rPr sz="1600" b="0">
                <a:solidFill>
                  <a:srgbClr val="33415C"/>
                </a:solidFill>
                <a:latin typeface="Segoe UI"/>
              </a:rPr>
              <a:t> (room-tone forensics, replay). Each targets a different failure mode.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95728"/>
            <a:ext cx="11201400" cy="38404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1" y="2450592"/>
            <a:ext cx="4389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Segoe UI"/>
              </a:rPr>
              <a:t>#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7592" y="2450592"/>
            <a:ext cx="33649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Segoe UI"/>
              </a:rPr>
              <a:t>WHAT THE ATTACKER DOES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2450592"/>
            <a:ext cx="2999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Segoe UI"/>
              </a:rPr>
              <a:t>WHAT THE PIPELINE SEES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2" y="2450592"/>
            <a:ext cx="24505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Segoe UI"/>
              </a:rPr>
              <a:t>WHICH RULE CATCHES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51592" y="2450592"/>
            <a:ext cx="13075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Segoe UI"/>
              </a:rPr>
              <a:t>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798064"/>
            <a:ext cx="11201400" cy="713231"/>
          </a:xfrm>
          <a:prstGeom prst="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962656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6394B"/>
                </a:solidFill>
                <a:latin typeface="Segoe UI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7592" y="2843784"/>
            <a:ext cx="33467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Clone of a DIFFERENT person's voice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(cheap TTS — our Call 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2312" y="2843784"/>
            <a:ext cx="29809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similarity 0.13 « 0.53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91272" y="2843784"/>
            <a:ext cx="24323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Voice-fingerprint 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1592" y="2843784"/>
            <a:ext cx="128930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D6394B"/>
                </a:solidFill>
                <a:latin typeface="Segoe UI"/>
              </a:rPr>
              <a:t>HOLD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547872"/>
            <a:ext cx="11201400" cy="713231"/>
          </a:xfrm>
          <a:prstGeom prst="rect">
            <a:avLst/>
          </a:prstGeom>
          <a:solidFill>
            <a:srgbClr val="E7EEF6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3712463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6394B"/>
                </a:solidFill>
                <a:latin typeface="Segoe UI"/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7592" y="3593591"/>
            <a:ext cx="33467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Same-agent-timbre clone that fools identity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(0.77 — our Call 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82312" y="3593591"/>
            <a:ext cx="29809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Identity PASSES, average says "real"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but one 4-s segment scores 0.99 synthetic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91272" y="3593591"/>
            <a:ext cx="24323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Hot-segment rule (any slice ≥ 0.90)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51592" y="3593591"/>
            <a:ext cx="128930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D6394B"/>
                </a:solidFill>
                <a:latin typeface="Segoe UI"/>
              </a:rPr>
              <a:t>HOLD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D6394B"/>
                </a:solidFill>
                <a:latin typeface="Segoe UI"/>
              </a:rPr>
              <a:t>(worst segment, not average)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297680"/>
            <a:ext cx="11201400" cy="713231"/>
          </a:xfrm>
          <a:prstGeom prst="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46227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C88600"/>
                </a:solidFill>
                <a:latin typeface="Segoe UI"/>
              </a:rPr>
              <a:t>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07592" y="4343400"/>
            <a:ext cx="33467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Clone that also fools the deepfake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(newer engine, unseen in training)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82312" y="4343400"/>
            <a:ext cx="29809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Deepfake score low, similarity high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91272" y="4343400"/>
            <a:ext cx="24323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Forensics clue (app-side): a digital render has no room tone → artifact ≥ 0.85 (PCM WAV only)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1592" y="4343400"/>
            <a:ext cx="128930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C88600"/>
                </a:solidFill>
                <a:latin typeface="Segoe UI"/>
              </a:rPr>
              <a:t>STEP-UP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C88600"/>
                </a:solidFill>
                <a:latin typeface="Segoe UI"/>
              </a:rPr>
              <a:t>(never auto-approve)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047488"/>
            <a:ext cx="11201400" cy="713231"/>
          </a:xfrm>
          <a:prstGeom prst="rect">
            <a:avLst/>
          </a:prstGeom>
          <a:solidFill>
            <a:srgbClr val="E7EEF6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5212079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6394B"/>
                </a:solidFill>
                <a:latin typeface="Segoe UI"/>
              </a:rPr>
              <a:t>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07592" y="5093207"/>
            <a:ext cx="33467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Replay of the agent's REAL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recorded audio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82312" y="5093207"/>
            <a:ext cx="29809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Everything passes — nothing new to detect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91272" y="5093207"/>
            <a:ext cx="24323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Content fingerprint: identical audio re-sent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51592" y="5093207"/>
            <a:ext cx="128930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D6394B"/>
                </a:solidFill>
                <a:latin typeface="Segoe UI"/>
              </a:rPr>
              <a:t>HOLD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843016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F1B2D"/>
                </a:solidFill>
                <a:latin typeface="Segoe UI"/>
              </a:rPr>
              <a:t>Layer principle:</a:t>
            </a:r>
            <a:r>
              <a:rPr sz="1250" b="0">
                <a:solidFill>
                  <a:srgbClr val="33415C"/>
                </a:solidFill>
                <a:latin typeface="Segoe UI"/>
              </a:rPr>
              <a:t> each check targets a failure mode the others miss — identity catches "wrong voice"; the segment check catches "right voice, machine words"; forensics adds a best-effort room-tone backstop for new unseen engines; replay catches "it's just the recording".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4 ·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What one caught call is worth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6309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0F1B2D"/>
                </a:solidFill>
                <a:latin typeface="Segoe UI"/>
              </a:rPr>
              <a:t>Median loss per imposter scam:  </a:t>
            </a:r>
            <a:r>
              <a:rPr sz="1800" b="0">
                <a:solidFill>
                  <a:srgbClr val="33415C"/>
                </a:solidFill>
                <a:latin typeface="Segoe UI"/>
              </a:rPr>
              <a:t>$800 (FTC 2024 Data Book). Bank-wire scams skew higher — this is the conservative anchor.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B2D"/>
                </a:solidFill>
                <a:latin typeface="Segoe UI"/>
              </a:rPr>
              <a:t>Cost to check a risky call:  </a:t>
            </a:r>
            <a:r>
              <a:rPr sz="1800" b="0">
                <a:solidFill>
                  <a:srgbClr val="33415C"/>
                </a:solidFill>
                <a:latin typeface="Segoe UI"/>
              </a:rPr>
              <a:t>about 45 cents — spent only on flagged calls, never on all traffic.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At one big bank scale:  </a:t>
            </a:r>
            <a:r>
              <a:rPr sz="1700" b="0">
                <a:solidFill>
                  <a:srgbClr val="33415C"/>
                </a:solidFill>
                <a:latin typeface="Segoe UI"/>
              </a:rPr>
              <a:t>about $9.3 M/yr of prevented losses. That's the five-frame model: 1.56 M risky calls x 1.33 % scams x $800 x 80 % caught x 70 % stopped.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False alarms are cheap:  </a:t>
            </a:r>
            <a:r>
              <a:rPr sz="1700" b="0">
                <a:solidFill>
                  <a:srgbClr val="33415C"/>
                </a:solidFill>
                <a:latin typeface="Segoe UI"/>
              </a:rPr>
              <a:t>worst case, the customer confirms in the app. Nobody is ever locked 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2331720"/>
            <a:ext cx="4114800" cy="2377440"/>
          </a:xfrm>
          <a:prstGeom prst="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256032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600" b="1">
                <a:solidFill>
                  <a:srgbClr val="0E9F6E"/>
                </a:solidFill>
                <a:latin typeface="Segoe UI"/>
              </a:rPr>
              <a:t>~13x</a:t>
            </a:r>
          </a:p>
          <a:p>
            <a:r>
              <a:rPr sz="1300" b="0">
                <a:solidFill>
                  <a:srgbClr val="33415C"/>
                </a:solidFill>
                <a:latin typeface="Segoe UI"/>
              </a:rPr>
              <a:t>return on the checking cost: about $700 K/yr of checks prevents ~$9.3 M of scams — roughly $42 per fraud caught, $60 per prevented, against an $800 median loss.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502920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4748B"/>
                </a:solidFill>
                <a:latin typeface="Segoe UI"/>
              </a:rPr>
              <a:t>Latency: p50 ~ 0.6 s per slice (p95 ~ 2.6 s) on the deployed build — inside the decision window.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5 ·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Banks pay for it — and starting needs zero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Who pays:  </a:t>
            </a:r>
            <a:r>
              <a:rPr sz="1700" b="0">
                <a:solidFill>
                  <a:srgbClr val="33415C"/>
                </a:solidFill>
                <a:latin typeface="Segoe UI"/>
              </a:rPr>
              <a:t>the bank's fraud team. A bank can't stop a </a:t>
            </a:r>
            <a:r>
              <a:rPr sz="1700" b="1">
                <a:solidFill>
                  <a:srgbClr val="0F1B2D"/>
                </a:solidFill>
                <a:latin typeface="Segoe UI"/>
              </a:rPr>
              <a:t>perfect clone</a:t>
            </a:r>
            <a:r>
              <a:rPr sz="1700" b="0">
                <a:solidFill>
                  <a:srgbClr val="33415C"/>
                </a:solidFill>
                <a:latin typeface="Segoe UI"/>
              </a:rPr>
              <a:t> from inside its own call centre — the clone is its own agent's voice. Only the </a:t>
            </a:r>
            <a:r>
              <a:rPr sz="1700" b="1">
                <a:solidFill>
                  <a:srgbClr val="0F1B2D"/>
                </a:solidFill>
                <a:latin typeface="Segoe UI"/>
              </a:rPr>
              <a:t>customer's side</a:t>
            </a:r>
            <a:r>
              <a:rPr sz="1700" b="0">
                <a:solidFill>
                  <a:srgbClr val="33415C"/>
                </a:solidFill>
                <a:latin typeface="Segoe UI"/>
              </a:rPr>
              <a:t> can.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Starting takes a day, not a dataset:  </a:t>
            </a:r>
            <a:r>
              <a:rPr sz="1700" b="0">
                <a:solidFill>
                  <a:srgbClr val="33415C"/>
                </a:solidFill>
                <a:latin typeface="Segoe UI"/>
              </a:rPr>
              <a:t>banks already record their agents for compliance. Take </a:t>
            </a:r>
            <a:r>
              <a:rPr sz="1700" b="1">
                <a:solidFill>
                  <a:srgbClr val="0F1B2D"/>
                </a:solidFill>
                <a:latin typeface="Segoe UI"/>
              </a:rPr>
              <a:t>15 to 60 s of that recording</a:t>
            </a:r>
            <a:r>
              <a:rPr sz="1700" b="0">
                <a:solidFill>
                  <a:srgbClr val="33415C"/>
                </a:solidFill>
                <a:latin typeface="Segoe UI"/>
              </a:rPr>
              <a:t>, enrol it — done. </a:t>
            </a:r>
            <a:r>
              <a:rPr sz="1700" b="1">
                <a:solidFill>
                  <a:srgbClr val="0F1B2D"/>
                </a:solidFill>
                <a:latin typeface="Segoe UI"/>
              </a:rPr>
              <a:t>We train nothing.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The honest scoreboard:  </a:t>
            </a:r>
            <a:r>
              <a:rPr sz="1700" b="0">
                <a:solidFill>
                  <a:srgbClr val="33415C"/>
                </a:solidFill>
                <a:latin typeface="Segoe UI"/>
              </a:rPr>
              <a:t>live now — 3 attacked calls + your own voice. Attacks are </a:t>
            </a:r>
            <a:r>
              <a:rPr sz="1700" b="1">
                <a:solidFill>
                  <a:srgbClr val="0F1B2D"/>
                </a:solidFill>
                <a:latin typeface="Segoe UI"/>
              </a:rPr>
              <a:t>held</a:t>
            </a:r>
            <a:r>
              <a:rPr sz="1700" b="0">
                <a:solidFill>
                  <a:srgbClr val="33415C"/>
                </a:solidFill>
                <a:latin typeface="Segoe UI"/>
              </a:rPr>
              <a:t> (red, call cut); errors and missing evidence fail safe (amber step-up) — neither ever auto-approves. Next — the phone-network version. We say which is which.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First pilot:  </a:t>
            </a:r>
            <a:r>
              <a:rPr sz="1700" b="0">
                <a:solidFill>
                  <a:srgbClr val="33415C"/>
                </a:solidFill>
                <a:latin typeface="Segoe UI"/>
              </a:rPr>
              <a:t>6 weeks, flagged calls only. Success = one caught scam with the full evidence log shown — then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