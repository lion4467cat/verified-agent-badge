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E9F6E"/>
                </a:solidFill>
                <a:latin typeface="Segoe UI"/>
              </a:rPr>
              <a:t>SLIDE 1 ·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676656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0F1B2D"/>
                </a:solidFill>
                <a:latin typeface="Segoe UI"/>
              </a:rPr>
              <a:t>The phone scam no amount of care can stop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914400" cy="45720"/>
          </a:xfrm>
          <a:prstGeom prst="rect">
            <a:avLst/>
          </a:prstGeom>
          <a:solidFill>
            <a:srgbClr val="0E9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64748B"/>
                </a:solidFill>
                <a:latin typeface="Segoe UI"/>
              </a:rPr>
              <a:t>Try it live — https://unclone-verified-agent.onrender.com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920240"/>
            <a:ext cx="109728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900" b="0">
                <a:solidFill>
                  <a:srgbClr val="33415C"/>
                </a:solidFill>
                <a:latin typeface="Segoe UI"/>
              </a:rPr>
              <a:t>Your phone rings. </a:t>
            </a:r>
            <a:r>
              <a:rPr sz="1900" b="1">
                <a:solidFill>
                  <a:srgbClr val="0F1B2D"/>
                </a:solidFill>
                <a:latin typeface="Segoe UI"/>
              </a:rPr>
              <a:t>“This is your bank about a ₹86,499 payment above your limit.”</a:t>
            </a:r>
            <a:r>
              <a:rPr sz="1900" b="0">
                <a:solidFill>
                  <a:srgbClr val="33415C"/>
                </a:solidFill>
                <a:latin typeface="Segoe UI"/>
              </a:rPr>
              <a:t> Name right, details right, voice right.</a:t>
            </a:r>
          </a:p>
          <a:p>
            <a:pPr>
              <a:spcAft>
                <a:spcPts val="1400"/>
              </a:spcAft>
            </a:pPr>
            <a:r>
              <a:rPr sz="1700" b="0">
                <a:solidFill>
                  <a:srgbClr val="33415C"/>
                </a:solidFill>
                <a:latin typeface="Segoe UI"/>
              </a:rPr>
              <a:t>The voice is a </a:t>
            </a:r>
            <a:r>
              <a:rPr sz="1700" b="1">
                <a:solidFill>
                  <a:srgbClr val="0F1B2D"/>
                </a:solidFill>
                <a:latin typeface="Segoe UI"/>
              </a:rPr>
              <a:t>computer clone</a:t>
            </a:r>
            <a:r>
              <a:rPr sz="1700" b="0">
                <a:solidFill>
                  <a:srgbClr val="33415C"/>
                </a:solidFill>
                <a:latin typeface="Segoe UI"/>
              </a:rPr>
              <a:t> of the bank's agent. You cannot tell. Nobody can.</a:t>
            </a:r>
          </a:p>
          <a:p>
            <a:pPr>
              <a:spcAft>
                <a:spcPts val="1400"/>
              </a:spcAft>
            </a:pPr>
            <a:r>
              <a:rPr sz="1700" b="0">
                <a:solidFill>
                  <a:srgbClr val="33415C"/>
                </a:solidFill>
                <a:latin typeface="Segoe UI"/>
              </a:rPr>
              <a:t>The old guardrails are dead: caller ID is faked, the caller knows everything, and </a:t>
            </a:r>
            <a:r>
              <a:rPr sz="1700" b="1">
                <a:solidFill>
                  <a:srgbClr val="0F1B2D"/>
                </a:solidFill>
                <a:latin typeface="Segoe UI"/>
              </a:rPr>
              <a:t>they don't need you to tell them anything</a:t>
            </a:r>
            <a:r>
              <a:rPr sz="1700" b="0">
                <a:solidFill>
                  <a:srgbClr val="33415C"/>
                </a:solidFill>
                <a:latin typeface="Segoe UI"/>
              </a:rPr>
              <a:t> — they need you to agree.</a:t>
            </a:r>
          </a:p>
          <a:p>
            <a:pPr>
              <a:spcAft>
                <a:spcPts val="1400"/>
              </a:spcAft>
            </a:pPr>
            <a:r>
              <a:rPr sz="1700" b="0">
                <a:solidFill>
                  <a:srgbClr val="33415C"/>
                </a:solidFill>
                <a:latin typeface="Segoe UI"/>
              </a:rPr>
              <a:t>Our idea: </a:t>
            </a:r>
            <a:r>
              <a:rPr sz="1700" b="1">
                <a:solidFill>
                  <a:srgbClr val="0F1B2D"/>
                </a:solidFill>
                <a:latin typeface="Segoe UI"/>
              </a:rPr>
              <a:t>let the customer verify the caller.</a:t>
            </a:r>
            <a:r>
              <a:rPr sz="1700" b="0">
                <a:solidFill>
                  <a:srgbClr val="33415C"/>
                </a:solidFill>
                <a:latin typeface="Segoe UI"/>
              </a:rPr>
              <a:t> Nobody is on the customer's side of the call today. We are.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E9F6E"/>
                </a:solidFill>
                <a:latin typeface="Segoe UI"/>
              </a:rPr>
              <a:t>SLIDE 2 ·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676656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0F1B2D"/>
                </a:solidFill>
                <a:latin typeface="Segoe UI"/>
              </a:rPr>
              <a:t>A traffic light for the phone call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914400" cy="45720"/>
          </a:xfrm>
          <a:prstGeom prst="rect">
            <a:avLst/>
          </a:prstGeom>
          <a:solidFill>
            <a:srgbClr val="0E9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64748B"/>
                </a:solidFill>
                <a:latin typeface="Segoe UI"/>
              </a:rPr>
              <a:t>Try it live — https://unclone-verified-agent.onrender.com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783080"/>
            <a:ext cx="1097280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>
                <a:solidFill>
                  <a:srgbClr val="33415C"/>
                </a:solidFill>
                <a:latin typeface="Segoe UI"/>
              </a:rPr>
              <a:t>An app on </a:t>
            </a:r>
            <a:r>
              <a:rPr sz="1900" b="1">
                <a:solidFill>
                  <a:srgbClr val="0F1B2D"/>
                </a:solidFill>
                <a:latin typeface="Segoe UI"/>
              </a:rPr>
              <a:t>your</a:t>
            </a:r>
            <a:r>
              <a:rPr sz="1900" b="0">
                <a:solidFill>
                  <a:srgbClr val="33415C"/>
                </a:solidFill>
                <a:latin typeface="Segoe UI"/>
              </a:rPr>
              <a:t> side of the call listens and checks, every 6 seconds, </a:t>
            </a:r>
            <a:r>
              <a:rPr sz="1900" b="1">
                <a:solidFill>
                  <a:srgbClr val="0F1B2D"/>
                </a:solidFill>
                <a:latin typeface="Segoe UI"/>
              </a:rPr>
              <a:t>is each slice the real enrolled agent — or a machine copying them?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971800"/>
            <a:ext cx="3520440" cy="1234440"/>
          </a:xfrm>
          <a:prstGeom prst="roundRect">
            <a:avLst/>
          </a:prstGeom>
          <a:solidFill>
            <a:srgbClr val="F2F6FB"/>
          </a:solidFill>
          <a:ln w="9525">
            <a:solidFill>
              <a:srgbClr val="D3DE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50392" y="3136392"/>
            <a:ext cx="292608" cy="292608"/>
          </a:xfrm>
          <a:prstGeom prst="ellipse">
            <a:avLst/>
          </a:prstGeom>
          <a:solidFill>
            <a:srgbClr val="0E9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52728" y="3081528"/>
            <a:ext cx="28346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E9F6E"/>
                </a:solidFill>
                <a:latin typeface="Segoe UI"/>
              </a:rPr>
              <a:t>GREEN · GO</a:t>
            </a:r>
          </a:p>
          <a:p>
            <a:r>
              <a:rPr sz="1200" b="0">
                <a:solidFill>
                  <a:srgbClr val="33415C"/>
                </a:solidFill>
                <a:latin typeface="Segoe UI"/>
              </a:rPr>
              <a:t>Real agent voice, no machine parts. Carry on with the call.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43400" y="2971800"/>
            <a:ext cx="3520440" cy="1234440"/>
          </a:xfrm>
          <a:prstGeom prst="roundRect">
            <a:avLst/>
          </a:prstGeom>
          <a:solidFill>
            <a:srgbClr val="F2F6FB"/>
          </a:solidFill>
          <a:ln w="9525">
            <a:solidFill>
              <a:srgbClr val="D3DE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507992" y="3136392"/>
            <a:ext cx="292608" cy="292608"/>
          </a:xfrm>
          <a:prstGeom prst="ellipse">
            <a:avLst/>
          </a:prstGeom>
          <a:solidFill>
            <a:srgbClr val="C88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10328" y="3081528"/>
            <a:ext cx="28346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C88600"/>
                </a:solidFill>
                <a:latin typeface="Segoe UI"/>
              </a:rPr>
              <a:t>AMBER · DOUBLE-CHECK</a:t>
            </a:r>
          </a:p>
          <a:p>
            <a:r>
              <a:rPr sz="1200" b="0">
                <a:solidFill>
                  <a:srgbClr val="33415C"/>
                </a:solidFill>
                <a:latin typeface="Segoe UI"/>
              </a:rPr>
              <a:t>Can't be sure. Confirm the payment in the app instead.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01000" y="2971800"/>
            <a:ext cx="3566160" cy="1234440"/>
          </a:xfrm>
          <a:prstGeom prst="roundRect">
            <a:avLst/>
          </a:prstGeom>
          <a:solidFill>
            <a:srgbClr val="F2F6FB"/>
          </a:solidFill>
          <a:ln w="9525">
            <a:solidFill>
              <a:srgbClr val="D3DE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165592" y="3136392"/>
            <a:ext cx="292608" cy="292608"/>
          </a:xfrm>
          <a:prstGeom prst="ellipse">
            <a:avLst/>
          </a:prstGeom>
          <a:solidFill>
            <a:srgbClr val="D63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67928" y="3081528"/>
            <a:ext cx="288036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D6394B"/>
                </a:solidFill>
                <a:latin typeface="Segoe UI"/>
              </a:rPr>
              <a:t>RED · STOP</a:t>
            </a:r>
          </a:p>
          <a:p>
            <a:r>
              <a:rPr sz="1200" b="0">
                <a:solidFill>
                  <a:srgbClr val="33415C"/>
                </a:solidFill>
                <a:latin typeface="Segoe UI"/>
              </a:rPr>
              <a:t>A fake was caught. The call is cut, the payment blocked.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61772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15C"/>
                </a:solidFill>
                <a:latin typeface="Segoe UI"/>
              </a:rPr>
              <a:t>The red light is not a warning — </a:t>
            </a:r>
            <a:r>
              <a:rPr sz="1600" b="1">
                <a:solidFill>
                  <a:srgbClr val="0F1B2D"/>
                </a:solidFill>
                <a:latin typeface="Segoe UI"/>
              </a:rPr>
              <a:t>watch the demo: the audio stops mid-sentence</a:t>
            </a:r>
            <a:r>
              <a:rPr sz="1600" b="0">
                <a:solidFill>
                  <a:srgbClr val="33415C"/>
                </a:solidFill>
                <a:latin typeface="Segoe UI"/>
              </a:rPr>
              <a:t> and the transaction flips to “payment blocked”.</a:t>
            </a:r>
          </a:p>
          <a:p>
            <a:r>
              <a:rPr sz="1400" b="0">
                <a:solidFill>
                  <a:srgbClr val="64748B"/>
                </a:solidFill>
                <a:latin typeface="Segoe UI"/>
              </a:rPr>
              <a:t>And it works on voices it has never heard: our judges can enrol their own voice and try it live.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E9F6E"/>
                </a:solidFill>
                <a:latin typeface="Segoe UI"/>
              </a:rPr>
              <a:t>SLIDE 3 · THE ENGINE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676656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0F1B2D"/>
                </a:solidFill>
                <a:latin typeface="Segoe UI"/>
              </a:rPr>
              <a:t>Four questions, asked every 6 seconds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914400" cy="45720"/>
          </a:xfrm>
          <a:prstGeom prst="rect">
            <a:avLst/>
          </a:prstGeom>
          <a:solidFill>
            <a:srgbClr val="0E9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64748B"/>
                </a:solidFill>
                <a:latin typeface="Segoe UI"/>
              </a:rPr>
              <a:t>Try it live — https://unclone-verified-agent.onrender.com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78308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33415C"/>
                </a:solidFill>
                <a:latin typeface="Segoe UI"/>
              </a:rPr>
              <a:t>The call is chopped into </a:t>
            </a:r>
            <a:r>
              <a:rPr sz="1800" b="1">
                <a:solidFill>
                  <a:srgbClr val="0F1B2D"/>
                </a:solidFill>
                <a:latin typeface="Segoe UI"/>
              </a:rPr>
              <a:t>6-second slices</a:t>
            </a:r>
            <a:r>
              <a:rPr sz="1800" b="0">
                <a:solidFill>
                  <a:srgbClr val="33415C"/>
                </a:solidFill>
                <a:latin typeface="Segoe UI"/>
              </a:rPr>
              <a:t>, and each slice answers four questions. If any answer is wrong — red or amber, </a:t>
            </a:r>
            <a:r>
              <a:rPr sz="1800" b="1">
                <a:solidFill>
                  <a:srgbClr val="0F1B2D"/>
                </a:solidFill>
                <a:latin typeface="Segoe UI"/>
              </a:rPr>
              <a:t>never auto-approve</a:t>
            </a:r>
            <a:r>
              <a:rPr sz="1800" b="0">
                <a:solidFill>
                  <a:srgbClr val="33415C"/>
                </a:solidFill>
                <a:latin typeface="Segoe UI"/>
              </a:rPr>
              <a:t>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5440680" cy="1371600"/>
          </a:xfrm>
          <a:prstGeom prst="roundRect">
            <a:avLst/>
          </a:prstGeom>
          <a:solidFill>
            <a:srgbClr val="F2F6FB"/>
          </a:solidFill>
          <a:ln w="9525">
            <a:solidFill>
              <a:srgbClr val="D3DE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1" y="2734056"/>
            <a:ext cx="5111496" cy="12070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50" b="1">
                <a:solidFill>
                  <a:srgbClr val="0E9F6E"/>
                </a:solidFill>
                <a:latin typeface="Segoe UI"/>
              </a:rPr>
              <a:t>1 · Is it the right voice?</a:t>
            </a:r>
          </a:p>
          <a:p>
            <a:r>
              <a:rPr sz="1150" b="0">
                <a:solidFill>
                  <a:srgbClr val="33415C"/>
                </a:solidFill>
                <a:latin typeface="Segoe UI"/>
              </a:rPr>
              <a:t>Every 6-second slice is checked against the voice fingerprint enrolled from the real bank agent; a slice that sounds like someone else fails here.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2651760"/>
            <a:ext cx="5440680" cy="1371600"/>
          </a:xfrm>
          <a:prstGeom prst="roundRect">
            <a:avLst/>
          </a:prstGeom>
          <a:solidFill>
            <a:srgbClr val="F2F6FB"/>
          </a:solidFill>
          <a:ln w="9525">
            <a:solidFill>
              <a:srgbClr val="D3DE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82512" y="2734056"/>
            <a:ext cx="5111496" cy="12070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50" b="1">
                <a:solidFill>
                  <a:srgbClr val="0E9F6E"/>
                </a:solidFill>
                <a:latin typeface="Segoe UI"/>
              </a:rPr>
              <a:t>2 · Does any of it sound machine-made?</a:t>
            </a:r>
          </a:p>
          <a:p>
            <a:r>
              <a:rPr sz="1150" b="0">
                <a:solidFill>
                  <a:srgbClr val="33415C"/>
                </a:solidFill>
                <a:latin typeface="Segoe UI"/>
              </a:rPr>
              <a:t>The same AI scores every 4-second piece for machine artefacts. A perfect same-voice clone can pass Q1 — but its machine-made pieces still score “0.999 synthetic” → red.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4133087"/>
            <a:ext cx="5440680" cy="1371600"/>
          </a:xfrm>
          <a:prstGeom prst="roundRect">
            <a:avLst/>
          </a:prstGeom>
          <a:solidFill>
            <a:srgbClr val="F2F6FB"/>
          </a:solidFill>
          <a:ln w="9525">
            <a:solidFill>
              <a:srgbClr val="D3DE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4215383"/>
            <a:ext cx="5111496" cy="12070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50" b="1">
                <a:solidFill>
                  <a:srgbClr val="C88600"/>
                </a:solidFill>
                <a:latin typeface="Segoe UI"/>
              </a:rPr>
              <a:t>3 · Does the room sound real?</a:t>
            </a:r>
          </a:p>
          <a:p>
            <a:r>
              <a:rPr sz="1150" b="0">
                <a:solidFill>
                  <a:srgbClr val="33415C"/>
                </a:solidFill>
                <a:latin typeface="Segoe UI"/>
              </a:rPr>
              <a:t>Forensics = a room-tone scan. Recordings of real calls carry the faint noise of a real space; computer-generated voices are born in digital silence. No room → amber.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4133087"/>
            <a:ext cx="5440680" cy="1371600"/>
          </a:xfrm>
          <a:prstGeom prst="roundRect">
            <a:avLst/>
          </a:prstGeom>
          <a:solidFill>
            <a:srgbClr val="F2F6FB"/>
          </a:solidFill>
          <a:ln w="9525">
            <a:solidFill>
              <a:srgbClr val="D3DE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82512" y="4215383"/>
            <a:ext cx="5111496" cy="12070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50" b="1">
                <a:solidFill>
                  <a:srgbClr val="D6394B"/>
                </a:solidFill>
                <a:latin typeface="Segoe UI"/>
              </a:rPr>
              <a:t>4 · Is it being replayed?</a:t>
            </a:r>
          </a:p>
          <a:p>
            <a:r>
              <a:rPr sz="1150" b="0">
                <a:solidFill>
                  <a:srgbClr val="33415C"/>
                </a:solidFill>
                <a:latin typeface="Segoe UI"/>
              </a:rPr>
              <a:t>The exact same audio arriving twice is a recording being re-run, not a live conversation — blocked on the spot, however real it sounds.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71500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1">
                <a:solidFill>
                  <a:srgbClr val="0F1B2D"/>
                </a:solidFill>
                <a:latin typeface="Segoe UI"/>
              </a:rPr>
              <a:t>Why four layers:</a:t>
            </a:r>
            <a:r>
              <a:rPr sz="1350" b="0">
                <a:solidFill>
                  <a:srgbClr val="33415C"/>
                </a:solidFill>
                <a:latin typeface="Segoe UI"/>
              </a:rPr>
              <a:t> each check's blind spot is another check's job — a same-voice clone fools Q1 but fails Q2; a brand-new TTS engine may slip past Q2 but has no real room behind it (Q3); a straight replay of the agent's own recording fools Q1 to Q3 — and still gets caught (Q4).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E9F6E"/>
                </a:solidFill>
                <a:latin typeface="Segoe UI"/>
              </a:rPr>
              <a:t>SLIDE 4 · IMPACT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676656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0F1B2D"/>
                </a:solidFill>
                <a:latin typeface="Segoe UI"/>
              </a:rPr>
              <a:t>What one caught call is worth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914400" cy="45720"/>
          </a:xfrm>
          <a:prstGeom prst="rect">
            <a:avLst/>
          </a:prstGeom>
          <a:solidFill>
            <a:srgbClr val="0E9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64748B"/>
                </a:solidFill>
                <a:latin typeface="Segoe UI"/>
              </a:rPr>
              <a:t>Try it live — https://unclone-verified-agent.onrender.com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965960"/>
            <a:ext cx="63093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800" b="1">
                <a:solidFill>
                  <a:srgbClr val="0F1B2D"/>
                </a:solidFill>
                <a:latin typeface="Segoe UI"/>
              </a:rPr>
              <a:t>Loss per voice scam:  </a:t>
            </a:r>
            <a:r>
              <a:rPr sz="1800" b="0">
                <a:solidFill>
                  <a:srgbClr val="33415C"/>
                </a:solidFill>
                <a:latin typeface="Segoe UI"/>
              </a:rPr>
              <a:t>≈ </a:t>
            </a:r>
            <a:r>
              <a:rPr sz="1800" b="1">
                <a:solidFill>
                  <a:srgbClr val="0F1B2D"/>
                </a:solidFill>
                <a:latin typeface="Segoe UI"/>
              </a:rPr>
              <a:t>$5,700</a:t>
            </a:r>
            <a:r>
              <a:rPr sz="1800" b="0">
                <a:solidFill>
                  <a:srgbClr val="33415C"/>
                </a:solidFill>
                <a:latin typeface="Segoe UI"/>
              </a:rPr>
              <a:t> (≈ ₹4.8 lakh). (FTC 2024)</a:t>
            </a:r>
          </a:p>
          <a:p>
            <a:pPr>
              <a:spcAft>
                <a:spcPts val="1400"/>
              </a:spcAft>
            </a:pPr>
            <a:r>
              <a:rPr sz="1800" b="1">
                <a:solidFill>
                  <a:srgbClr val="0F1B2D"/>
                </a:solidFill>
                <a:latin typeface="Segoe UI"/>
              </a:rPr>
              <a:t>Cost to check a risky call:  </a:t>
            </a:r>
            <a:r>
              <a:rPr sz="1800" b="0">
                <a:solidFill>
                  <a:srgbClr val="33415C"/>
                </a:solidFill>
                <a:latin typeface="Segoe UI"/>
              </a:rPr>
              <a:t>≈ </a:t>
            </a:r>
            <a:r>
              <a:rPr sz="1800" b="1">
                <a:solidFill>
                  <a:srgbClr val="0F1B2D"/>
                </a:solidFill>
                <a:latin typeface="Segoe UI"/>
              </a:rPr>
              <a:t>50 cents.</a:t>
            </a:r>
            <a:r>
              <a:rPr sz="1800" b="0">
                <a:solidFill>
                  <a:srgbClr val="33415C"/>
                </a:solidFill>
                <a:latin typeface="Segoe UI"/>
              </a:rPr>
              <a:t> The whole product story is this gap.</a:t>
            </a:r>
          </a:p>
          <a:p>
            <a:pPr>
              <a:spcAft>
                <a:spcPts val="1400"/>
              </a:spcAft>
            </a:pPr>
            <a:r>
              <a:rPr sz="1700" b="1">
                <a:solidFill>
                  <a:srgbClr val="0F1B2D"/>
                </a:solidFill>
                <a:latin typeface="Segoe UI"/>
              </a:rPr>
              <a:t>At one big bank scale:  </a:t>
            </a:r>
            <a:r>
              <a:rPr sz="1700" b="0">
                <a:solidFill>
                  <a:srgbClr val="33415C"/>
                </a:solidFill>
                <a:latin typeface="Segoe UI"/>
              </a:rPr>
              <a:t>≈ </a:t>
            </a:r>
            <a:r>
              <a:rPr sz="1700" b="1">
                <a:solidFill>
                  <a:srgbClr val="0F1B2D"/>
                </a:solidFill>
                <a:latin typeface="Segoe UI"/>
              </a:rPr>
              <a:t>$66 M/yr</a:t>
            </a:r>
            <a:r>
              <a:rPr sz="1700" b="0">
                <a:solidFill>
                  <a:srgbClr val="33415C"/>
                </a:solidFill>
                <a:latin typeface="Segoe UI"/>
              </a:rPr>
              <a:t> of prevented losses. That's the five-frame model: 1.56 M risky calls × 1.33 % scams × $5,700 × 80 % caught × 70 % stopped.</a:t>
            </a:r>
          </a:p>
          <a:p>
            <a:pPr>
              <a:spcAft>
                <a:spcPts val="1400"/>
              </a:spcAft>
            </a:pPr>
            <a:r>
              <a:rPr sz="1700" b="1">
                <a:solidFill>
                  <a:srgbClr val="0F1B2D"/>
                </a:solidFill>
                <a:latin typeface="Segoe UI"/>
              </a:rPr>
              <a:t>False alarms are cheap:  </a:t>
            </a:r>
            <a:r>
              <a:rPr sz="1700" b="0">
                <a:solidFill>
                  <a:srgbClr val="33415C"/>
                </a:solidFill>
                <a:latin typeface="Segoe UI"/>
              </a:rPr>
              <a:t>worst case, the customer confirms in the app. Nobody is ever locked out.</a:t>
            </a:r>
          </a:p>
        </p:txBody>
      </p:sp>
      <p:sp>
        <p:nvSpPr>
          <p:cNvPr id="8" name="Rectangle 7"/>
          <p:cNvSpPr/>
          <p:nvPr/>
        </p:nvSpPr>
        <p:spPr>
          <a:xfrm>
            <a:off x="7406640" y="2331720"/>
            <a:ext cx="4114800" cy="2377440"/>
          </a:xfrm>
          <a:prstGeom prst="rect">
            <a:avLst/>
          </a:prstGeom>
          <a:solidFill>
            <a:srgbClr val="F2F6FB"/>
          </a:solidFill>
          <a:ln w="9525">
            <a:solidFill>
              <a:srgbClr val="D3DE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80960" y="2560320"/>
            <a:ext cx="35661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5600" b="1">
                <a:solidFill>
                  <a:srgbClr val="0E9F6E"/>
                </a:solidFill>
                <a:latin typeface="Segoe UI"/>
              </a:rPr>
              <a:t>~100×</a:t>
            </a:r>
          </a:p>
          <a:p>
            <a:r>
              <a:rPr sz="1400" b="0">
                <a:solidFill>
                  <a:srgbClr val="33415C"/>
                </a:solidFill>
                <a:latin typeface="Segoe UI"/>
              </a:rPr>
              <a:t>return on the checking cost: a 50-cent check that catches a $5,700 theft.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0" y="5029200"/>
            <a:ext cx="4023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0">
                <a:solidFill>
                  <a:srgbClr val="64748B"/>
                </a:solidFill>
                <a:latin typeface="Segoe UI"/>
              </a:rPr>
              <a:t>Latency: p50 &lt; 1 s per slice on the deployed build — inside the decision window.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E9F6E"/>
                </a:solidFill>
                <a:latin typeface="Segoe UI"/>
              </a:rPr>
              <a:t>SLIDE 5 · SCALE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676656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0F1B2D"/>
                </a:solidFill>
                <a:latin typeface="Segoe UI"/>
              </a:rPr>
              <a:t>Banks pay for it — and starting needs zero data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914400" cy="45720"/>
          </a:xfrm>
          <a:prstGeom prst="rect">
            <a:avLst/>
          </a:prstGeom>
          <a:solidFill>
            <a:srgbClr val="0E9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64748B"/>
                </a:solidFill>
                <a:latin typeface="Segoe UI"/>
              </a:rPr>
              <a:t>Try it live — https://unclone-verified-agent.onrender.com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74519"/>
            <a:ext cx="109728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700" b="1">
                <a:solidFill>
                  <a:srgbClr val="0F1B2D"/>
                </a:solidFill>
                <a:latin typeface="Segoe UI"/>
              </a:rPr>
              <a:t>Who pays:  </a:t>
            </a:r>
            <a:r>
              <a:rPr sz="1700" b="0">
                <a:solidFill>
                  <a:srgbClr val="33415C"/>
                </a:solidFill>
                <a:latin typeface="Segoe UI"/>
              </a:rPr>
              <a:t>the bank's fraud team. A bank can't stop a </a:t>
            </a:r>
            <a:r>
              <a:rPr sz="1700" b="1">
                <a:solidFill>
                  <a:srgbClr val="0F1B2D"/>
                </a:solidFill>
                <a:latin typeface="Segoe UI"/>
              </a:rPr>
              <a:t>perfect clone</a:t>
            </a:r>
            <a:r>
              <a:rPr sz="1700" b="0">
                <a:solidFill>
                  <a:srgbClr val="33415C"/>
                </a:solidFill>
                <a:latin typeface="Segoe UI"/>
              </a:rPr>
              <a:t> from inside its own call centre — the clone is its own agent's voice. Only the </a:t>
            </a:r>
            <a:r>
              <a:rPr sz="1700" b="1">
                <a:solidFill>
                  <a:srgbClr val="0F1B2D"/>
                </a:solidFill>
                <a:latin typeface="Segoe UI"/>
              </a:rPr>
              <a:t>customer's side</a:t>
            </a:r>
            <a:r>
              <a:rPr sz="1700" b="0">
                <a:solidFill>
                  <a:srgbClr val="33415C"/>
                </a:solidFill>
                <a:latin typeface="Segoe UI"/>
              </a:rPr>
              <a:t> can.</a:t>
            </a:r>
          </a:p>
          <a:p>
            <a:pPr>
              <a:spcAft>
                <a:spcPts val="1400"/>
              </a:spcAft>
            </a:pPr>
            <a:r>
              <a:rPr sz="1700" b="1">
                <a:solidFill>
                  <a:srgbClr val="0F1B2D"/>
                </a:solidFill>
                <a:latin typeface="Segoe UI"/>
              </a:rPr>
              <a:t>Starting takes a day, not a dataset:  </a:t>
            </a:r>
            <a:r>
              <a:rPr sz="1700" b="0">
                <a:solidFill>
                  <a:srgbClr val="33415C"/>
                </a:solidFill>
                <a:latin typeface="Segoe UI"/>
              </a:rPr>
              <a:t>banks already record their agents for compliance. Take </a:t>
            </a:r>
            <a:r>
              <a:rPr sz="1700" b="1">
                <a:solidFill>
                  <a:srgbClr val="0F1B2D"/>
                </a:solidFill>
                <a:latin typeface="Segoe UI"/>
              </a:rPr>
              <a:t>15–60 s of that recording</a:t>
            </a:r>
            <a:r>
              <a:rPr sz="1700" b="0">
                <a:solidFill>
                  <a:srgbClr val="33415C"/>
                </a:solidFill>
                <a:latin typeface="Segoe UI"/>
              </a:rPr>
              <a:t>, enrol it — done. </a:t>
            </a:r>
            <a:r>
              <a:rPr sz="1700" b="1">
                <a:solidFill>
                  <a:srgbClr val="0F1B2D"/>
                </a:solidFill>
                <a:latin typeface="Segoe UI"/>
              </a:rPr>
              <a:t>We train nothing.</a:t>
            </a:r>
          </a:p>
          <a:p>
            <a:pPr>
              <a:spcAft>
                <a:spcPts val="1400"/>
              </a:spcAft>
            </a:pPr>
            <a:r>
              <a:rPr sz="1700" b="1">
                <a:solidFill>
                  <a:srgbClr val="0F1B2D"/>
                </a:solidFill>
                <a:latin typeface="Segoe UI"/>
              </a:rPr>
              <a:t>The honest scoreboard:  </a:t>
            </a:r>
            <a:r>
              <a:rPr sz="1700" b="0">
                <a:solidFill>
                  <a:srgbClr val="33415C"/>
                </a:solidFill>
                <a:latin typeface="Segoe UI"/>
              </a:rPr>
              <a:t>live now — 3 attacked calls + your own voice, every failure fails *safe* (amber, never auto-approve). Next — the phone-network version. We say which is which.</a:t>
            </a:r>
          </a:p>
          <a:p>
            <a:pPr>
              <a:spcAft>
                <a:spcPts val="1400"/>
              </a:spcAft>
            </a:pPr>
            <a:r>
              <a:rPr sz="1700" b="1">
                <a:solidFill>
                  <a:srgbClr val="0F1B2D"/>
                </a:solidFill>
                <a:latin typeface="Segoe UI"/>
              </a:rPr>
              <a:t>First pilot:  </a:t>
            </a:r>
            <a:r>
              <a:rPr sz="1700" b="0">
                <a:solidFill>
                  <a:srgbClr val="33415C"/>
                </a:solidFill>
                <a:latin typeface="Segoe UI"/>
              </a:rPr>
              <a:t>6 weeks, flagged calls only. Success = one caught scam with the full evidence log shown — then scale.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