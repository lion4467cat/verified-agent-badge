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The phone scam no amount of care can stop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33415C"/>
                </a:solidFill>
                <a:latin typeface="Segoe UI"/>
              </a:rPr>
              <a:t>Your phone rings. </a:t>
            </a:r>
            <a:r>
              <a:rPr sz="1900" b="1">
                <a:solidFill>
                  <a:srgbClr val="0F1B2D"/>
                </a:solidFill>
                <a:latin typeface="Segoe UI"/>
              </a:rPr>
              <a:t>This is your bank about a Rs 86,499 payment above your limit.</a:t>
            </a:r>
            <a:r>
              <a:rPr sz="1900" b="0">
                <a:solidFill>
                  <a:srgbClr val="33415C"/>
                </a:solidFill>
                <a:latin typeface="Segoe UI"/>
              </a:rPr>
              <a:t> Name right, details right, voice right.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voice is a </a:t>
            </a:r>
            <a:r>
              <a:rPr sz="1700" b="1">
                <a:solidFill>
                  <a:srgbClr val="0F1B2D"/>
                </a:solidFill>
                <a:latin typeface="Segoe UI"/>
              </a:rPr>
              <a:t>computer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of the bank's agent. You cannot tell. Nobody can.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old guardrails are dead: caller ID is faked, the caller knows everything, and </a:t>
            </a:r>
            <a:r>
              <a:rPr sz="1700" b="1">
                <a:solidFill>
                  <a:srgbClr val="0F1B2D"/>
                </a:solidFill>
                <a:latin typeface="Segoe UI"/>
              </a:rPr>
              <a:t>they don't need you to tell them anything</a:t>
            </a:r>
            <a:r>
              <a:rPr sz="1700" b="0">
                <a:solidFill>
                  <a:srgbClr val="33415C"/>
                </a:solidFill>
                <a:latin typeface="Segoe UI"/>
              </a:rPr>
              <a:t> — they need you to agree.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Our idea: </a:t>
            </a:r>
            <a:r>
              <a:rPr sz="1700" b="1">
                <a:solidFill>
                  <a:srgbClr val="0F1B2D"/>
                </a:solidFill>
                <a:latin typeface="Segoe UI"/>
              </a:rPr>
              <a:t>let the customer verify the caller.</a:t>
            </a:r>
            <a:r>
              <a:rPr sz="1700" b="0">
                <a:solidFill>
                  <a:srgbClr val="33415C"/>
                </a:solidFill>
                <a:latin typeface="Segoe UI"/>
              </a:rPr>
              <a:t> Nobody is on the customer's side of the call today. We are.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2 ·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A traffic light for the phone call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33415C"/>
                </a:solidFill>
                <a:latin typeface="Segoe UI"/>
              </a:rPr>
              <a:t>An app on </a:t>
            </a:r>
            <a:r>
              <a:rPr sz="1900" b="1">
                <a:solidFill>
                  <a:srgbClr val="0F1B2D"/>
                </a:solidFill>
                <a:latin typeface="Segoe UI"/>
              </a:rPr>
              <a:t>your</a:t>
            </a:r>
            <a:r>
              <a:rPr sz="1900" b="0">
                <a:solidFill>
                  <a:srgbClr val="33415C"/>
                </a:solidFill>
                <a:latin typeface="Segoe UI"/>
              </a:rPr>
              <a:t> side of the call listens and checks, every 6 seconds, </a:t>
            </a:r>
            <a:r>
              <a:rPr sz="1900" b="1">
                <a:solidFill>
                  <a:srgbClr val="0F1B2D"/>
                </a:solidFill>
                <a:latin typeface="Segoe UI"/>
              </a:rPr>
              <a:t>is each slice the real enrolled agent — or a machine copying them?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71800"/>
            <a:ext cx="352044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0392" y="3136392"/>
            <a:ext cx="292608" cy="292608"/>
          </a:xfrm>
          <a:prstGeom prst="ellipse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081528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9F6E"/>
                </a:solidFill>
                <a:latin typeface="Segoe UI"/>
              </a:rPr>
              <a:t>GREEN · GO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71800"/>
            <a:ext cx="352044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7992" y="3136392"/>
            <a:ext cx="292608" cy="292608"/>
          </a:xfrm>
          <a:prstGeom prst="ellipse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0328" y="3081528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88600"/>
                </a:solidFill>
                <a:latin typeface="Segoe UI"/>
              </a:rPr>
              <a:t>AMBER · DOUBLE-CHECK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971800"/>
            <a:ext cx="356616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65592" y="3136392"/>
            <a:ext cx="292608" cy="292608"/>
          </a:xfrm>
          <a:prstGeom prst="ellipse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67928" y="3081528"/>
            <a:ext cx="2880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6394B"/>
                </a:solidFill>
                <a:latin typeface="Segoe UI"/>
              </a:rPr>
              <a:t>RED · 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15C"/>
                </a:solidFill>
                <a:latin typeface="Segoe UI"/>
              </a:rPr>
              <a:t>The red light is not a warning — </a:t>
            </a:r>
            <a:r>
              <a:rPr sz="1600" b="1">
                <a:solidFill>
                  <a:srgbClr val="0F1B2D"/>
                </a:solidFill>
                <a:latin typeface="Segoe UI"/>
              </a:rPr>
              <a:t>watch the demo: the audio stops mid-sentence</a:t>
            </a:r>
            <a:r>
              <a:rPr sz="1600" b="0">
                <a:solidFill>
                  <a:srgbClr val="33415C"/>
                </a:solidFill>
                <a:latin typeface="Segoe UI"/>
              </a:rPr>
              <a:t> and the transaction flips to payment blocked.</a:t>
            </a:r>
          </a:p>
          <a:p>
            <a:r>
              <a:rPr sz="1400" b="0">
                <a:solidFill>
                  <a:srgbClr val="64748B"/>
                </a:solidFill>
                <a:latin typeface="Segoe UI"/>
              </a:rPr>
              <a:t>And it works on voices it has never heard: our judges can enrol their own voice and try it live.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3 · THE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Every attack — and which rule catches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15C"/>
                </a:solidFill>
                <a:latin typeface="Segoe UI"/>
              </a:rPr>
              <a:t>One AI engine answers </a:t>
            </a:r>
            <a:r>
              <a:rPr sz="1600" b="1">
                <a:solidFill>
                  <a:srgbClr val="0F1B2D"/>
                </a:solidFill>
                <a:latin typeface="Segoe UI"/>
              </a:rPr>
              <a:t>four different questions</a:t>
            </a:r>
            <a:r>
              <a:rPr sz="1600" b="0">
                <a:solidFill>
                  <a:srgbClr val="33415C"/>
                </a:solidFill>
                <a:latin typeface="Segoe UI"/>
              </a:rPr>
              <a:t> about every 6-second slice. Each layer catches what the layer above it cannot see.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95728"/>
            <a:ext cx="11201400" cy="38404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2450592"/>
            <a:ext cx="438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2450592"/>
            <a:ext cx="33649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WHAT THE ATTACKER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450592"/>
            <a:ext cx="2999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WHAT THE PIPELINE SEES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2450592"/>
            <a:ext cx="24505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WHICH RULE CATCHES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51592" y="2450592"/>
            <a:ext cx="13075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Segoe UI"/>
              </a:rPr>
              <a:t>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98064"/>
            <a:ext cx="11201400" cy="713231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96265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6394B"/>
                </a:solidFill>
                <a:latin typeface="Segoe U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2843784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Clone of a DIFFERENT person's voice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(cheap TTS, no impersonation)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843784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similarity &lt; 0.53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2843784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Voice-fingerprint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1592" y="2843784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HOLD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47872"/>
            <a:ext cx="11201400" cy="713231"/>
          </a:xfrm>
          <a:prstGeom prst="rect">
            <a:avLst/>
          </a:prstGeom>
          <a:solidFill>
            <a:srgbClr val="E7EEF6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712463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6394B"/>
                </a:solidFill>
                <a:latin typeface="Segoe UI"/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" y="3593591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Same tool, same-agent-timbre clone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(our Call 2 / 3 scenario)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82312" y="3593591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Fingerprint MAY PASS — same timbre!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but each 4-s segment scores 0.99 synthetic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2" y="3593591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Hot-segment rule (any slice ≥ 0.90)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51592" y="3593591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HOLD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(average said "real")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97680"/>
            <a:ext cx="11201400" cy="713231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46227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C88600"/>
                </a:solidFill>
                <a:latin typeface="Segoe UI"/>
              </a:rPr>
              <a:t>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07592" y="4343400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Clone that also fools the deepfake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(newer engine, unseen in training)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2312" y="4343400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Deepfake score low, similarity high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1272" y="4343400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Forensics: digital render → no room tone → artifact ≥ 0.85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1592" y="4343400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C88600"/>
                </a:solidFill>
                <a:latin typeface="Segoe UI"/>
              </a:rPr>
              <a:t>STEP-UP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C88600"/>
                </a:solidFill>
                <a:latin typeface="Segoe UI"/>
              </a:rPr>
              <a:t>(never auto-approve)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047488"/>
            <a:ext cx="11201400" cy="713231"/>
          </a:xfrm>
          <a:prstGeom prst="rect">
            <a:avLst/>
          </a:prstGeom>
          <a:solidFill>
            <a:srgbClr val="E7EEF6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5212079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6394B"/>
                </a:solidFill>
                <a:latin typeface="Segoe UI"/>
              </a:rPr>
              <a:t>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7592" y="5093207"/>
            <a:ext cx="33467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Replay of the agent's REAL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0F1B2D"/>
                </a:solidFill>
                <a:latin typeface="Segoe UI"/>
              </a:rPr>
              <a:t>recorded audio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82312" y="5093207"/>
            <a:ext cx="29809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Everything passes — nothing new to detect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1272" y="5093207"/>
            <a:ext cx="243230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33415C"/>
                </a:solidFill>
                <a:latin typeface="Segoe UI"/>
              </a:rPr>
              <a:t>Content fingerprint: identical audio re-sent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51592" y="5093207"/>
            <a:ext cx="12893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D6394B"/>
                </a:solidFill>
                <a:latin typeface="Segoe UI"/>
              </a:rPr>
              <a:t>HOLD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843016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B2D"/>
                </a:solidFill>
                <a:latin typeface="Segoe UI"/>
              </a:rPr>
              <a:t>Layer principle:</a:t>
            </a:r>
            <a:r>
              <a:rPr sz="1250" b="0">
                <a:solidFill>
                  <a:srgbClr val="33415C"/>
                </a:solidFill>
                <a:latin typeface="Segoe UI"/>
              </a:rPr>
              <a:t> each layer covers another layer's blind spot — identity covers "wrong voice"; the segment check covers "right voice, machine words"; forensics covers "new unseen engine"; replay covers "it's just the recording".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4 ·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What one caught call is worth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6309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Median loss per imposter scam:  </a:t>
            </a:r>
            <a:r>
              <a:rPr sz="1800" b="0">
                <a:solidFill>
                  <a:srgbClr val="33415C"/>
                </a:solidFill>
                <a:latin typeface="Segoe UI"/>
              </a:rPr>
              <a:t>$800 (FTC 2024 Data Book). Bank-wire scams skew higher — this is the conservative anchor.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Cost to check a risky call:  </a:t>
            </a:r>
            <a:r>
              <a:rPr sz="1800" b="0">
                <a:solidFill>
                  <a:srgbClr val="33415C"/>
                </a:solidFill>
                <a:latin typeface="Segoe UI"/>
              </a:rPr>
              <a:t>about 45 cents. The whole product story is this gap.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At one big bank scale:  </a:t>
            </a:r>
            <a:r>
              <a:rPr sz="1700" b="0">
                <a:solidFill>
                  <a:srgbClr val="33415C"/>
                </a:solidFill>
                <a:latin typeface="Segoe UI"/>
              </a:rPr>
              <a:t>about $9.3 M/yr of prevented losses. That's the five-frame model: 1.56 M risky calls x 1.33 % scams x $800 x 80 % caught x 70 % stopped.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False alarms are cheap:  </a:t>
            </a:r>
            <a:r>
              <a:rPr sz="1700" b="0">
                <a:solidFill>
                  <a:srgbClr val="33415C"/>
                </a:solidFill>
                <a:latin typeface="Segoe UI"/>
              </a:rPr>
              <a:t>worst case, the customer confirms in the app. Nobody is ever locked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331720"/>
            <a:ext cx="4114800" cy="2377440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256032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1">
                <a:solidFill>
                  <a:srgbClr val="0E9F6E"/>
                </a:solidFill>
                <a:latin typeface="Segoe UI"/>
              </a:rPr>
              <a:t>~900x</a:t>
            </a:r>
          </a:p>
          <a:p>
            <a:r>
              <a:rPr sz="1400" b="0">
                <a:solidFill>
                  <a:srgbClr val="33415C"/>
                </a:solidFill>
                <a:latin typeface="Segoe UI"/>
              </a:rPr>
              <a:t>return on the checking cost: $0.87 per caught fraud (after false alarms) against an $800 median loss.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02920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4748B"/>
                </a:solidFill>
                <a:latin typeface="Segoe UI"/>
              </a:rPr>
              <a:t>Latency: p50 ~ 0.6 s per slice (p95 ~ 2.6 s) on the deployed build — inside the decision window.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5 ·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Banks pay for it — and starting needs zero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Who pays:  </a:t>
            </a:r>
            <a:r>
              <a:rPr sz="1700" b="0">
                <a:solidFill>
                  <a:srgbClr val="33415C"/>
                </a:solidFill>
                <a:latin typeface="Segoe UI"/>
              </a:rPr>
              <a:t>the bank's fraud team. A bank can't stop a </a:t>
            </a:r>
            <a:r>
              <a:rPr sz="1700" b="1">
                <a:solidFill>
                  <a:srgbClr val="0F1B2D"/>
                </a:solidFill>
                <a:latin typeface="Segoe UI"/>
              </a:rPr>
              <a:t>perfect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from inside its own call centre — the clone is its own agent's voice. Only the </a:t>
            </a:r>
            <a:r>
              <a:rPr sz="1700" b="1">
                <a:solidFill>
                  <a:srgbClr val="0F1B2D"/>
                </a:solidFill>
                <a:latin typeface="Segoe UI"/>
              </a:rPr>
              <a:t>customer's side</a:t>
            </a:r>
            <a:r>
              <a:rPr sz="1700" b="0">
                <a:solidFill>
                  <a:srgbClr val="33415C"/>
                </a:solidFill>
                <a:latin typeface="Segoe UI"/>
              </a:rPr>
              <a:t> can.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Starting takes a day, not a dataset: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banks already record their agents for compliance. Take </a:t>
            </a:r>
            <a:r>
              <a:rPr sz="1700" b="1">
                <a:solidFill>
                  <a:srgbClr val="0F1B2D"/>
                </a:solidFill>
                <a:latin typeface="Segoe UI"/>
              </a:rPr>
              <a:t>15 to 60 s of that recording</a:t>
            </a:r>
            <a:r>
              <a:rPr sz="1700" b="0">
                <a:solidFill>
                  <a:srgbClr val="33415C"/>
                </a:solidFill>
                <a:latin typeface="Segoe UI"/>
              </a:rPr>
              <a:t>, enrol it — done. </a:t>
            </a:r>
            <a:r>
              <a:rPr sz="1700" b="1">
                <a:solidFill>
                  <a:srgbClr val="0F1B2D"/>
                </a:solidFill>
                <a:latin typeface="Segoe UI"/>
              </a:rPr>
              <a:t>We train nothing.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The honest scoreboard:  </a:t>
            </a:r>
            <a:r>
              <a:rPr sz="1700" b="0">
                <a:solidFill>
                  <a:srgbClr val="33415C"/>
                </a:solidFill>
                <a:latin typeface="Segoe UI"/>
              </a:rPr>
              <a:t>live now — 3 attacked calls + your own voice, every failure fails *safe* (amber, never auto-approve). Next — the phone-network version. We say which is which.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First pilot: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6 weeks, flagged calls only. Success = one caught scam with the full evidence log shown — then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