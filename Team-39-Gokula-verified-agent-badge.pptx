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E93C8"/>
                </a:solidFill>
              </a:rPr>
              <a:t>TEAM 39  ·  GOKULA  ·  VERIFIED-AGENT BADGE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7680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E8EFFC"/>
                </a:solidFill>
              </a:rPr>
              <a:t>UNCLONE</a:t>
            </a:r>
          </a:p>
          <a:p>
            <a:pPr algn="l">
              <a:lnSpc>
                <a:spcPct val="105000"/>
              </a:lnSpc>
            </a:pPr>
            <a:r>
              <a:rPr sz="3200" b="0">
                <a:solidFill>
                  <a:srgbClr val="CFDBF7"/>
                </a:solidFill>
              </a:rPr>
              <a:t>Verified-Agent Badge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>
                <a:solidFill>
                  <a:srgbClr val="9FB6E0"/>
                </a:solidFill>
              </a:rPr>
              <a:t>customer-side agent verifies the bank's agent on a live phone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006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5B9CFF"/>
                </a:solidFill>
              </a:rPr>
              <a:t>Try it live — https://unclone-verified-agent.onrender.com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>
                <a:solidFill>
                  <a:srgbClr val="6E93C8"/>
                </a:solidFill>
              </a:rPr>
              <a:t>Source: https://github.com/Lion4467cat/verified-agent-badge/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5F729A"/>
                </a:solidFill>
              </a:rPr>
              <a:t>UNCLONE Track 3  ·  Day 1 + Day 2 (combined)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0640" cy="1949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5600" b="1" u="none">
                <a:solidFill>
                  <a:srgbClr val="0F1B2D"/>
                </a:solidFill>
                <a:latin typeface="Segoe UI"/>
              </a:rPr>
              <a:t>Verified-Agent Badge</a:t>
            </a: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sz="2200" b="0" u="none">
                <a:solidFill>
                  <a:srgbClr val="64748B"/>
                </a:solidFill>
                <a:latin typeface="Segoe UI"/>
              </a:rPr>
              <a:t>customer-side agent verification</a:t>
            </a:r>
          </a:p>
          <a:p>
            <a:pPr>
              <a:lnSpc>
                <a:spcPct val="100000"/>
              </a:lnSpc>
              <a:spcBef>
                <a:spcPts val="2599"/>
              </a:spcBef>
            </a:pPr>
            <a:r>
              <a:rPr sz="1400" b="0" u="none">
                <a:solidFill>
                  <a:srgbClr val="64748B"/>
                </a:solidFill>
                <a:latin typeface="Segoe UI"/>
              </a:rPr>
              <a:t>UNCLONE Track 3  ·  Day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0640" cy="1949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5600" b="1" u="none">
                <a:solidFill>
                  <a:srgbClr val="0F1B2D"/>
                </a:solidFill>
                <a:latin typeface="Segoe UI"/>
              </a:rPr>
              <a:t>Verified-Agent Badge</a:t>
            </a: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sz="2200" b="0" u="none">
                <a:solidFill>
                  <a:srgbClr val="64748B"/>
                </a:solidFill>
                <a:latin typeface="Segoe UI"/>
              </a:rPr>
              <a:t>customer-side agent verification</a:t>
            </a:r>
          </a:p>
          <a:p>
            <a:pPr>
              <a:lnSpc>
                <a:spcPct val="100000"/>
              </a:lnSpc>
              <a:spcBef>
                <a:spcPts val="2599"/>
              </a:spcBef>
            </a:pPr>
            <a:r>
              <a:rPr sz="1400" b="0" u="none">
                <a:solidFill>
                  <a:srgbClr val="64748B"/>
                </a:solidFill>
                <a:latin typeface="Segoe UI"/>
              </a:rPr>
              <a:t>UNCLONE Track 3  ·  Day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384120"/>
            <a:ext cx="10514880" cy="3193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300" b="1" u="none">
                <a:solidFill>
                  <a:srgbClr val="0E9F6E"/>
                </a:solidFill>
                <a:latin typeface="Segoe UI"/>
              </a:rPr>
              <a:t>SLIDE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20" y="713160"/>
            <a:ext cx="10972080" cy="8222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3200" b="1" u="none">
                <a:solidFill>
                  <a:srgbClr val="0F1B2D"/>
                </a:solidFill>
                <a:latin typeface="Segoe U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440" y="1481400"/>
            <a:ext cx="913680" cy="45000"/>
          </a:xfrm>
          <a:prstGeom prst="rect">
            <a:avLst/>
          </a:prstGeom>
          <a:noFill/>
        </p:spPr>
        <p:txBody>
          <a:bodyPr anchor="ctr" lIns="90000" rIns="90000" tIns="720" bIns="720">
            <a:no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640080" y="6382440"/>
            <a:ext cx="10514880" cy="365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Judge link: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6857280" cy="42055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Who: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a retail bank customer. Phone rings: “This is your bank's verification desk about a transaction of ₹86,499 on your card, above your limit.”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The moment someone tries to fool them: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the “bank agent” on the line is an imposter — a live-cloned voice that sounds exactly like the real bank assistant, walking the customer into approving the payment or reading an OTP.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Why now: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voice AI makes convincing real-time clones cheap; caller ID is spoofable, “the bank never asks for X” advice fails when the caller sounds like the bank. The customer has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no way to verify who is speaking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Stakes: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one approval on a high-value/suspicious transaction = money gone, and the customer did everything “right”.</a:t>
            </a:r>
          </a:p>
        </p:txBody>
      </p:sp>
      <p:pic>
        <p:nvPicPr>
          <p:cNvPr id="10" name="Picture 9" descr="day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800" y="281520"/>
            <a:ext cx="3447000" cy="621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384120"/>
            <a:ext cx="10514880" cy="3193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300" b="1" u="none">
                <a:solidFill>
                  <a:srgbClr val="0E9F6E"/>
                </a:solidFill>
                <a:latin typeface="Segoe UI"/>
              </a:rPr>
              <a:t>SLIDE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20" y="713160"/>
            <a:ext cx="10972080" cy="8222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3200" b="1" u="none">
                <a:solidFill>
                  <a:srgbClr val="0F1B2D"/>
                </a:solidFill>
                <a:latin typeface="Segoe UI"/>
              </a:rPr>
              <a:t>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440" y="1481400"/>
            <a:ext cx="913680" cy="45000"/>
          </a:xfrm>
          <a:prstGeom prst="rect">
            <a:avLst/>
          </a:prstGeom>
          <a:noFill/>
        </p:spPr>
        <p:txBody>
          <a:bodyPr anchor="ctr" lIns="90000" rIns="90000" tIns="720" bIns="720">
            <a:no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640080" y="6382440"/>
            <a:ext cx="10514880" cy="365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Judge link: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6857280" cy="438840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Verified-Agent Badge —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the user side verifies the bank's agent. (Bank's own agent already authenticates us; nobody authenticates it.)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0" u="none">
                <a:solidFill>
                  <a:srgbClr val="33415C"/>
                </a:solidFill>
                <a:latin typeface="Segoe UI"/>
              </a:rPr>
              <a:t>The customer's side runs an AI agent that checks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every spoken turn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 of the call against the enrolled, known voice of the genuine bank assistant.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The badge drives the decision: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green = conversation may proceed to the transaction step; red = transaction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held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, customer warned, call escalated.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0" u="none">
                <a:solidFill>
                  <a:srgbClr val="33415C"/>
                </a:solidFill>
                <a:latin typeface="Segoe UI"/>
              </a:rPr>
              <a:t>Two scenarios, both live in the prototype: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Call 1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 above-limit (genuine agent → PROCEEDS),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Call 2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 suspicious (imposter hijack → HELD).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0" u="none">
                <a:solidFill>
                  <a:srgbClr val="33415C"/>
                </a:solidFill>
                <a:latin typeface="Segoe UI"/>
              </a:rPr>
              <a:t>Zero customer effort: verification happens automatically on their side of the line.</a:t>
            </a:r>
          </a:p>
        </p:txBody>
      </p:sp>
      <p:pic>
        <p:nvPicPr>
          <p:cNvPr id="10" name="Picture 9" descr="day1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2788920"/>
            <a:ext cx="3931200" cy="1315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72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384120"/>
            <a:ext cx="10514880" cy="3193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300" b="1" u="none">
                <a:solidFill>
                  <a:srgbClr val="0E9F6E"/>
                </a:solidFill>
                <a:latin typeface="Segoe UI"/>
              </a:rPr>
              <a:t>SLIDE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20" y="713160"/>
            <a:ext cx="10972080" cy="8222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2800" b="1" u="none">
                <a:solidFill>
                  <a:srgbClr val="0F1B2D"/>
                </a:solidFill>
                <a:latin typeface="Segoe UI"/>
              </a:rPr>
              <a:t>DetectifAI (tools disclosed here per rules 5.2)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440" y="1481400"/>
            <a:ext cx="913680" cy="45000"/>
          </a:xfrm>
          <a:prstGeom prst="rect">
            <a:avLst/>
          </a:prstGeom>
          <a:noFill/>
        </p:spPr>
        <p:txBody>
          <a:bodyPr anchor="ctr" lIns="90000" rIns="90000" tIns="720" bIns="720">
            <a:no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640080" y="6382440"/>
            <a:ext cx="10514880" cy="365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Judge link: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560" y="1656720"/>
            <a:ext cx="6857280" cy="457128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  <a:spcAft>
                <a:spcPts val="1001"/>
              </a:spcAft>
            </a:pPr>
            <a:r>
              <a:rPr sz="1400" b="1" u="none">
                <a:solidFill>
                  <a:srgbClr val="0F1B2D"/>
                </a:solidFill>
                <a:latin typeface="Segoe UI"/>
              </a:rPr>
              <a:t>Both APIs, one call: </a:t>
            </a:r>
            <a:r>
              <a:rPr sz="1400" b="0" u="none">
                <a:solidFill>
                  <a:srgbClr val="33415C"/>
                </a:solidFill>
                <a:latin typeface="Segoe UI"/>
              </a:rPr>
              <a:t>DetectifAI POST /v1/speakers/verify with detect_deepfake=true → speaker verification (matches the caller against enrolled bank_agent_1) and deepfake detection (is this speech AI-generated?) per turn.</a:t>
            </a: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sz="1400" b="1" u="none">
                <a:solidFill>
                  <a:srgbClr val="0F1B2D"/>
                </a:solidFill>
                <a:latin typeface="Segoe UI"/>
              </a:rPr>
              <a:t>Where it sits: </a:t>
            </a:r>
            <a:r>
              <a:rPr sz="1400" b="0" u="none">
                <a:solidFill>
                  <a:srgbClr val="33415C"/>
                </a:solidFill>
                <a:latin typeface="Segoe UI"/>
              </a:rPr>
              <a:t>middle of the call flow — browser call screen → FastAPI backend → DetectifAI → badge verdict → transaction decision. Taken out of the product, the badge has nothing to stand on and the product stops existing.</a:t>
            </a: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sz="1400" b="1" u="none">
                <a:solidFill>
                  <a:srgbClr val="0F1B2D"/>
                </a:solidFill>
                <a:latin typeface="Segoe UI"/>
              </a:rPr>
              <a:t>The decision it drives: </a:t>
            </a:r>
            <a:r>
              <a:rPr sz="1400" b="0" u="none">
                <a:solidFill>
                  <a:srgbClr val="33415C"/>
                </a:solidFill>
                <a:latin typeface="Segoe UI"/>
              </a:rPr>
              <a:t>match + genuine → approve (PROCEEDS); no_match or synthetic → block (transaction held, warn customer).</a:t>
            </a: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sz="1400" b="1" u="none">
                <a:solidFill>
                  <a:srgbClr val="0F1B2D"/>
                </a:solidFill>
                <a:latin typeface="Segoe UI"/>
              </a:rPr>
              <a:t>Live results from the prototype today: </a:t>
            </a:r>
            <a:r>
              <a:rPr sz="1400" b="0" u="none">
                <a:solidFill>
                  <a:srgbClr val="33415C"/>
                </a:solidFill>
                <a:latin typeface="Segoe UI"/>
              </a:rPr>
              <a:t>genuine voice → match, similarity 0.987 (thr 0.53), deepfake real 0.008 (thr 0.62); attacker TTS → no_match, 0.151, deepfake synthetic 0.999, per-4s synthetic segments flagged.</a:t>
            </a:r>
          </a:p>
          <a:p>
            <a:pPr>
              <a:lnSpc>
                <a:spcPct val="100000"/>
              </a:lnSpc>
              <a:spcAft>
                <a:spcPts val="1001"/>
              </a:spcAft>
            </a:pPr>
            <a:r>
              <a:rPr sz="1400" b="1" u="none">
                <a:solidFill>
                  <a:srgbClr val="0F1B2D"/>
                </a:solidFill>
                <a:latin typeface="Segoe UI"/>
              </a:rPr>
              <a:t>Tools used: </a:t>
            </a:r>
            <a:r>
              <a:rPr sz="1400" b="0" u="none">
                <a:solidFill>
                  <a:srgbClr val="33415C"/>
                </a:solidFill>
                <a:latin typeface="Segoe UI"/>
              </a:rPr>
              <a:t>DetectifAI (verify + deepfake detection) · FastAPI/Python · edge-tts (team-generated attacker voice) · ffmpeg · Render · GitHub · built with an AI coding assistant (Codebuff/Claude Code).</a:t>
            </a:r>
          </a:p>
        </p:txBody>
      </p:sp>
      <p:pic>
        <p:nvPicPr>
          <p:cNvPr id="10" name="Picture 9" descr="day1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480" y="2203200"/>
            <a:ext cx="5091120" cy="2088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384120"/>
            <a:ext cx="10514880" cy="3193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300" b="1" u="none">
                <a:solidFill>
                  <a:srgbClr val="0E9F6E"/>
                </a:solidFill>
                <a:latin typeface="Segoe UI"/>
              </a:rPr>
              <a:t>SLIDE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20" y="713160"/>
            <a:ext cx="10972080" cy="8222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3200" b="1" u="none">
                <a:solidFill>
                  <a:srgbClr val="0F1B2D"/>
                </a:solidFill>
                <a:latin typeface="Segoe UI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440" y="1481400"/>
            <a:ext cx="913680" cy="45000"/>
          </a:xfrm>
          <a:prstGeom prst="rect">
            <a:avLst/>
          </a:prstGeom>
          <a:noFill/>
        </p:spPr>
        <p:txBody>
          <a:bodyPr anchor="ctr" lIns="90000" rIns="90000" tIns="720" bIns="720">
            <a:no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640080" y="6382440"/>
            <a:ext cx="10514880" cy="365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Judge link: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6857280" cy="438840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Who it protects: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every customer on an outbound bank/NBFC/insurer verification call — the exact fraud moment DetectifAI itself was founded on.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What changes: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the imposter call ends </a:t>
            </a:r>
            <a:r>
              <a:rPr sz="1500" b="1" u="none">
                <a:solidFill>
                  <a:srgbClr val="0F1B2D"/>
                </a:solidFill>
                <a:latin typeface="Segoe UI"/>
              </a:rPr>
              <a:t>before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 the customer speaks a single secret; the genuine call gets a visible trust signal instead of anxiety.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Measured on the working prototype: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~2.5 s end-to-end per spoken turn; both decisions demonstrated live (approve 0.987 vs hold on 0.999-synthetic clone); no hardware, no customer onboarding beyond voice enrollment (15–60 s).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False-alarm posture: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red never locks the customer out — it steps up to an alternate verified channel (in-app confirmation), so friction is bounded.</a:t>
            </a:r>
          </a:p>
        </p:txBody>
      </p:sp>
      <p:pic>
        <p:nvPicPr>
          <p:cNvPr id="10" name="Picture 9" descr="day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2788920"/>
            <a:ext cx="3931200" cy="128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040" cy="6857280"/>
          </a:xfrm>
          <a:prstGeom prst="rect">
            <a:avLst/>
          </a:prstGeom>
          <a:noFill/>
        </p:spPr>
        <p:txBody>
          <a:bodyPr anchor="ctr" lIns="90000" rIns="90000" tIns="45000" bIns="45000">
            <a:no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40080" y="384120"/>
            <a:ext cx="10514880" cy="31932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300" b="1" u="none">
                <a:solidFill>
                  <a:srgbClr val="0E9F6E"/>
                </a:solidFill>
                <a:latin typeface="Segoe UI"/>
              </a:rPr>
              <a:t>SLIDE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20" y="713160"/>
            <a:ext cx="10972080" cy="8222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3200" b="1" u="none">
                <a:solidFill>
                  <a:srgbClr val="0F1B2D"/>
                </a:solidFill>
                <a:latin typeface="Segoe UI"/>
              </a:rPr>
              <a:t>Scale (incl. Day 2 plan)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440" y="1481400"/>
            <a:ext cx="913680" cy="45000"/>
          </a:xfrm>
          <a:prstGeom prst="rect">
            <a:avLst/>
          </a:prstGeom>
          <a:noFill/>
        </p:spPr>
        <p:txBody>
          <a:bodyPr anchor="ctr" lIns="90000" rIns="90000" tIns="720" bIns="720">
            <a:no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640080" y="6382440"/>
            <a:ext cx="10514880" cy="36504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200" b="0" u="none">
                <a:solidFill>
                  <a:srgbClr val="64748B"/>
                </a:solidFill>
                <a:latin typeface="Segoe UI"/>
              </a:rPr>
              <a:t>Judge link: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080" cy="438840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600" b="1" u="none">
                <a:solidFill>
                  <a:srgbClr val="0F1B2D"/>
                </a:solidFill>
                <a:latin typeface="Segoe UI"/>
              </a:rPr>
              <a:t>Day 2 plan </a:t>
            </a:r>
            <a:r>
              <a:rPr sz="1600" b="0" u="none">
                <a:solidFill>
                  <a:srgbClr val="33415C"/>
                </a:solidFill>
                <a:latin typeface="Segoe UI"/>
              </a:rPr>
              <a:t>(nine hours, judge-gap driven):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33415C"/>
                </a:solidFill>
                <a:latin typeface="Segoe UI"/>
              </a:rPr>
              <a:t>1. Streaming deepfake check —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feed the live call's audio continuously (DetectifAI's segment scoring already visualised in the UI) instead of per turn; deeper use of the API.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33415C"/>
                </a:solidFill>
                <a:latin typeface="Segoe UI"/>
              </a:rPr>
              <a:t>2. Verified-badge handshake —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extend to agent-to-agent: any voice agent presents/enrolls its voice; a protocol-level “verified agent” attestation both directions.</a:t>
            </a:r>
          </a:p>
          <a:p>
            <a:pPr>
              <a:lnSpc>
                <a:spcPct val="100000"/>
              </a:lnSpc>
              <a:spcAft>
                <a:spcPts val="1100"/>
              </a:spcAft>
            </a:pPr>
            <a:r>
              <a:rPr sz="1500" b="1" u="none">
                <a:solidFill>
                  <a:srgbClr val="33415C"/>
                </a:solidFill>
                <a:latin typeface="Segoe UI"/>
              </a:rPr>
              <a:t>3. Phone channel path —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bridge the same check to PSTN/WhatsApp-audio calls (audio in → same API → same badge).</a:t>
            </a:r>
          </a:p>
          <a:p>
            <a:pPr>
              <a:lnSpc>
                <a:spcPct val="100000"/>
              </a:lnSpc>
              <a:spcAft>
                <a:spcPts val="1400"/>
              </a:spcAft>
            </a:pPr>
            <a:r>
              <a:rPr sz="1500" b="1" u="none">
                <a:solidFill>
                  <a:srgbClr val="0F1B2D"/>
                </a:solidFill>
                <a:latin typeface="Segoe UI"/>
              </a:rPr>
              <a:t>Scale: </a:t>
            </a:r>
            <a:r>
              <a:rPr sz="1500" b="0" u="none">
                <a:solidFill>
                  <a:srgbClr val="33415C"/>
                </a:solidFill>
                <a:latin typeface="Segoe UI"/>
              </a:rPr>
              <a:t>per-turn check costs 50+50 credits and ~2.5 s today — cheap enough to run on every suspicious transaction; enrollment reuses banks' existing voice-consent flows; the badge client is one API wrapper any call surface can embed.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080" cy="456480"/>
          </a:xfrm>
          <a:prstGeom prst="rect">
            <a:avLst/>
          </a:prstGeom>
          <a:noFill/>
        </p:spPr>
        <p:txBody>
          <a:bodyPr anchor="t" lIns="90000" rIns="90000" tIns="45000" bIns="45000">
            <a:spAutoFit/>
          </a:bodyPr>
          <a:lstStyle/>
          <a:p>
            <a:pPr>
              <a:lnSpc>
                <a:spcPct val="100000"/>
              </a:lnSpc>
            </a:pPr>
            <a:r>
              <a:rPr sz="1700" b="0" u="none">
                <a:solidFill>
                  <a:srgbClr val="0F1B2D"/>
                </a:solidFill>
                <a:latin typeface="Segoe UI"/>
              </a:rPr>
              <a:t>Demo link (no login): </a:t>
            </a:r>
            <a:r>
              <a:rPr sz="1700" b="1" u="none">
                <a:solidFill>
                  <a:srgbClr val="0E9F6E"/>
                </a:solidFill>
                <a:latin typeface="Segoe UI"/>
              </a:rPr>
              <a:t>https://unclone-verified-agent.onrender.com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This is your bank about a Rs 86,499 payment above your limit.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 — no amount of care on your side helps.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5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550" b="1">
                <a:solidFill>
                  <a:srgbClr val="0F1B2D"/>
                </a:solidFill>
                <a:latin typeface="Segoe UI"/>
              </a:rPr>
              <a:t>your</a:t>
            </a:r>
            <a:r>
              <a:rPr sz="1550" b="0">
                <a:solidFill>
                  <a:srgbClr val="33415C"/>
                </a:solidFill>
                <a:latin typeface="Segoe UI"/>
              </a:rPr>
              <a:t> side of the call checks the audio it is given — the demo runs recorded call clips and your live mic through it, every 6 seconds: </a:t>
            </a:r>
            <a:r>
              <a:rPr sz="1550" b="1">
                <a:solidFill>
                  <a:srgbClr val="0F1B2D"/>
                </a:solidFill>
                <a:latin typeface="Segoe UI"/>
              </a:rPr>
              <a:t>is each slice the real enrolled agent, or a machine copying them?</a:t>
            </a:r>
            <a:r>
              <a:rPr sz="1550" b="0">
                <a:solidFill>
                  <a:srgbClr val="33415C"/>
                </a:solidFill>
                <a:latin typeface="Segoe UI"/>
              </a:rPr>
              <a:t> (Capturing the phone line itself is the next version.)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71800"/>
            <a:ext cx="3520440" cy="123444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136392"/>
            <a:ext cx="292608" cy="292608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3072384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>
                <a:solidFill>
                  <a:srgbClr val="0E9F6E"/>
                </a:solidFill>
                <a:latin typeface="Segoe UI"/>
              </a:rPr>
              <a:t>GREEN · GO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Real agent voice, no machine parts. Carry on with the call.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71800"/>
            <a:ext cx="3520440" cy="123444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3136392"/>
            <a:ext cx="292608" cy="292608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0328" y="3072384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>
                <a:solidFill>
                  <a:srgbClr val="C88600"/>
                </a:solidFill>
                <a:latin typeface="Segoe UI"/>
              </a:rPr>
              <a:t>AMBER · DOUBLE-CHECK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Can't be sure. Confirm the payment in the app instead.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971800"/>
            <a:ext cx="3566160" cy="123444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3136392"/>
            <a:ext cx="292608" cy="292608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3072384"/>
            <a:ext cx="28803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>
                <a:solidFill>
                  <a:srgbClr val="D6394B"/>
                </a:solidFill>
                <a:latin typeface="Segoe UI"/>
              </a:rPr>
              <a:t>RED · STOP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33415C"/>
                </a:solidFill>
                <a:latin typeface="Segoe UI"/>
              </a:rPr>
              <a:t>A fake was caught. The call is cut, the payment blocked.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payment blocked.</a:t>
            </a:r>
          </a:p>
          <a:p>
            <a:pPr/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400" b="1">
                <a:solidFill>
                  <a:srgbClr val="0F1B2D"/>
                </a:solidFill>
                <a:latin typeface="Segoe UI"/>
              </a:rPr>
              <a:t>Every attack — and which rule catches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415C"/>
                </a:solidFill>
                <a:latin typeface="Segoe UI"/>
              </a:rPr>
              <a:t>Four checks per 6-second slice: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AI-model questions</a:t>
            </a:r>
            <a:r>
              <a:rPr sz="1600" b="0">
                <a:solidFill>
                  <a:srgbClr val="33415C"/>
                </a:solidFill>
                <a:latin typeface="Segoe UI"/>
              </a:rPr>
              <a:t> (identity, machine-voice) plus </a:t>
            </a:r>
            <a:r>
              <a:rPr sz="1600" b="1">
                <a:solidFill>
                  <a:srgbClr val="0F1B2D"/>
                </a:solidFill>
                <a:latin typeface="Segoe UI"/>
              </a:rPr>
              <a:t>two app-side checks</a:t>
            </a:r>
            <a:r>
              <a:rPr sz="1600" b="0">
                <a:solidFill>
                  <a:srgbClr val="33415C"/>
                </a:solidFill>
                <a:latin typeface="Segoe UI"/>
              </a:rPr>
              <a:t> (room-tone forensics, replay). Each targets a different failure mode.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11201400" cy="384048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450592"/>
            <a:ext cx="438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00" b="1">
                <a:solidFill>
                  <a:srgbClr val="FFFFFF"/>
                </a:solidFill>
                <a:latin typeface="Segoe UI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450592"/>
            <a:ext cx="33649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00" b="1">
                <a:solidFill>
                  <a:srgbClr val="FFFFFF"/>
                </a:solidFill>
                <a:latin typeface="Segoe UI"/>
              </a:rPr>
              <a:t>WHAT THE ATTACKER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50592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00" b="1">
                <a:solidFill>
                  <a:srgbClr val="FFFFFF"/>
                </a:solidFill>
                <a:latin typeface="Segoe UI"/>
              </a:rPr>
              <a:t>WHAT THE PIPELINE SEES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2450592"/>
            <a:ext cx="24505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00" b="1">
                <a:solidFill>
                  <a:srgbClr val="FFFFFF"/>
                </a:solidFill>
                <a:latin typeface="Segoe UI"/>
              </a:rPr>
              <a:t>WHICH RULE CATCHES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1592" y="2450592"/>
            <a:ext cx="1307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000" b="1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798064"/>
            <a:ext cx="11201400" cy="713231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626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D6394B"/>
                </a:solidFill>
                <a:latin typeface="Segoe UI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2843784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of a DIFFERENT person's voice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(cheap TTS — our Call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2843784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similarity 0.13 « 0.53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843784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Voice-fingerprint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1592" y="2843784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547872"/>
            <a:ext cx="11201400" cy="713231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D6394B"/>
                </a:solidFill>
                <a:latin typeface="Segoe U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593591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Same-agent-timbre clone that fools identity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(0.77 — our Call 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3593591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Identity PASSES, average says "real"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but one 4-s segment scores 0.99 synthetic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3593591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Hot-segment rule (any slice ≥ 0.90)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1592" y="3593591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(worst segment, not average)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97680"/>
            <a:ext cx="11201400" cy="713231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4622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C88600"/>
                </a:solidFill>
                <a:latin typeface="Segoe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343400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that also fools the deepfake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(newer engine, unseen in training)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2312" y="4343400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Deepfake score low, similarity high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1272" y="4343400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Forensics clue (app-side): a digital render has no room tone → artifact ≥ 0.85 (PCM WAV only)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1592" y="4343400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STEP-UP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(never auto-approve)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047488"/>
            <a:ext cx="11201400" cy="713231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2120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D6394B"/>
                </a:solidFill>
                <a:latin typeface="Segoe UI"/>
              </a:rPr>
              <a:t>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7592" y="5093207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Replay of the agent's REAL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recorded audio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2312" y="5093207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Everything passes — nothing new to detect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1272" y="5093207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Content fingerprint: identical audio re-sent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51592" y="5093207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43016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1">
                <a:solidFill>
                  <a:srgbClr val="0F1B2D"/>
                </a:solidFill>
                <a:latin typeface="Segoe UI"/>
              </a:rPr>
              <a:t>Layer principle:</a:t>
            </a:r>
            <a:r>
              <a:rPr sz="1250" b="0">
                <a:solidFill>
                  <a:srgbClr val="33415C"/>
                </a:solidFill>
                <a:latin typeface="Segoe UI"/>
              </a:rPr>
              <a:t> each check targets a failure mode the others miss — identity catches "wrong voice"; the segment check catches "right voice, machine words"; forensics adds a best-effort room-tone backstop for new unseen engines; replay catches "it's just the recording".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Median loss per imposter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$800 (FTC 2024 Data Book). Bank-wire scams skew higher — this is the conservative anchor.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45 cents — spent only on flagged calls, never on all traffic.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about $9.3 M/yr of prevented losses. That's the five-frame model: 1.56 M risky calls x 1.33 % scams x $800 x 80 % caught x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5600" b="1">
                <a:solidFill>
                  <a:srgbClr val="0E9F6E"/>
                </a:solidFill>
                <a:latin typeface="Segoe UI"/>
              </a:rPr>
              <a:t>~13x</a:t>
            </a:r>
          </a:p>
          <a:p>
            <a:pPr/>
            <a:r>
              <a:rPr sz="1300" b="0">
                <a:solidFill>
                  <a:srgbClr val="33415C"/>
                </a:solidFill>
                <a:latin typeface="Segoe UI"/>
              </a:rPr>
              <a:t>return on the checking cost: about $700 K/yr of checks prevents ~$9.3 M of scams — roughly $42 per fraud caught, $60 per prevented, against an $800 median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64748B"/>
                </a:solidFill>
                <a:latin typeface="Segoe UI"/>
              </a:rPr>
              <a:t>Latency: p50 ~ 0.6 s per slice (p95 ~ 2.6 s) on the deployed build — inside the decision window.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 to 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voice. Attacks are </a:t>
            </a:r>
            <a:r>
              <a:rPr sz="1700" b="1">
                <a:solidFill>
                  <a:srgbClr val="0F1B2D"/>
                </a:solidFill>
                <a:latin typeface="Segoe UI"/>
              </a:rPr>
              <a:t>held</a:t>
            </a:r>
            <a:r>
              <a:rPr sz="1700" b="0">
                <a:solidFill>
                  <a:srgbClr val="33415C"/>
                </a:solidFill>
                <a:latin typeface="Segoe UI"/>
              </a:rPr>
              <a:t> (red, call cut); errors and missing evidence fail safe (amber step-up) — neither ever auto-approves.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E93C8"/>
                </a:solidFill>
              </a:rPr>
              <a:t>SLIDE  ·  SOURCE &amp; 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7680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Project:  </a:t>
            </a:r>
            <a:r>
              <a:rPr sz="1600">
                <a:solidFill>
                  <a:srgbClr val="CFDBF7"/>
                </a:solidFill>
              </a:rPr>
              <a:t>UNCLONE — Verified-Agent Badge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Team:  </a:t>
            </a:r>
            <a:r>
              <a:rPr sz="1600">
                <a:solidFill>
                  <a:srgbClr val="CFDBF7"/>
                </a:solidFill>
              </a:rPr>
              <a:t>Team 39 — Gokula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What it does:  </a:t>
            </a:r>
            <a:r>
              <a:rPr sz="1600">
                <a:solidFill>
                  <a:srgbClr val="CFDBF7"/>
                </a:solidFill>
              </a:rPr>
              <a:t>customer-side agent verifies the bank's agent on a live phone call, every 6 seconds, before any money moves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Try it live:  </a:t>
            </a:r>
            <a:r>
              <a:rPr sz="1600">
                <a:solidFill>
                  <a:srgbClr val="5B9CFF"/>
                </a:solidFill>
              </a:rPr>
              <a:t>https://unclone-verified-agent.onrender.com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Source code:  </a:t>
            </a:r>
            <a:r>
              <a:rPr sz="1600">
                <a:solidFill>
                  <a:srgbClr val="5B9CFF"/>
                </a:solidFill>
              </a:rPr>
              <a:t>https://github.com/Lion4467cat/verified-agent-badge/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EFFC"/>
                </a:solidFill>
              </a:rPr>
              <a:t>Built with:  </a:t>
            </a:r>
            <a:r>
              <a:rPr sz="1600">
                <a:solidFill>
                  <a:srgbClr val="CFDBF7"/>
                </a:solidFill>
              </a:rPr>
              <a:t>DetectifAI (speaker verification + deepfake detection), FastAPI, Python, edge-tts (team-generated attacker voice), ffmpeg, Render,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8FA3C8"/>
                </a:solidFill>
              </a:rPr>
              <a:t>Thank you —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