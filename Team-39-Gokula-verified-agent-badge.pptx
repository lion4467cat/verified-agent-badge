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7AE08A7-E1C8-4C88-B63D-D6ED1F80B2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A89035D-A928-4FF5-AB30-883FEC6AD3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03CB695-FC5A-4580-B828-D41FF393D3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E8836C-89FF-474D-8B2A-EA2818498D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IN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IN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github.com/Lion4467cat/verified-agent-badge" TargetMode="External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" name="TextBox 2"/>
          <p:cNvSpPr/>
          <p:nvPr/>
        </p:nvSpPr>
        <p:spPr>
          <a:xfrm>
            <a:off x="640080" y="2194560"/>
            <a:ext cx="10880280" cy="19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56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Verified-Agent Badge</a:t>
            </a:r>
            <a:endParaRPr lang="en-IN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</a:pPr>
            <a:r>
              <a:rPr lang="en-US" sz="22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customer-side agent verification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599"/>
              </a:spcBef>
            </a:pPr>
            <a:r>
              <a:rPr lang="en-US" sz="14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UNCLONE Track 3  ·  Day 1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" name="TextBox 2"/>
          <p:cNvSpPr/>
          <p:nvPr/>
        </p:nvSpPr>
        <p:spPr>
          <a:xfrm>
            <a:off x="640080" y="384120"/>
            <a:ext cx="10514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1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Box 3"/>
          <p:cNvSpPr/>
          <p:nvPr/>
        </p:nvSpPr>
        <p:spPr>
          <a:xfrm>
            <a:off x="621720" y="713160"/>
            <a:ext cx="109717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Problem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ectangle 4"/>
          <p:cNvSpPr/>
          <p:nvPr/>
        </p:nvSpPr>
        <p:spPr>
          <a:xfrm>
            <a:off x="658440" y="1481400"/>
            <a:ext cx="913320" cy="4464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Box 5"/>
          <p:cNvSpPr/>
          <p:nvPr/>
        </p:nvSpPr>
        <p:spPr>
          <a:xfrm>
            <a:off x="640080" y="6382440"/>
            <a:ext cx="10514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Judge link: https://unclone-verified-agent.onrender.com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Box 6"/>
          <p:cNvSpPr/>
          <p:nvPr/>
        </p:nvSpPr>
        <p:spPr>
          <a:xfrm>
            <a:off x="640080" y="1828800"/>
            <a:ext cx="6856920" cy="42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Who: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a retail bank customer. Phone rings: “This is your bank's verification desk about a transaction of ₹86,499 on your card, above your limit.”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The moment someone tries to fool them: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the “bank agent” on the line is an imposter — a live-cloned voice that sounds exactly like the real bank assistant, walking the customer into approving the payment or reading an OTP.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Why now: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voice AI makes convincing real-time clones cheap; caller ID is spoofable, “the bank never asks for X” advice fails when the caller sounds like the bank. The customer has </a:t>
            </a: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no way to verify who is speaking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Stakes: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one approval on a high-value/suspicious transaction = money gone, and the customer did everything “right”.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"/>
          <p:cNvPicPr/>
          <p:nvPr/>
        </p:nvPicPr>
        <p:blipFill>
          <a:blip r:embed="rId1"/>
          <a:stretch/>
        </p:blipFill>
        <p:spPr>
          <a:xfrm>
            <a:off x="7984800" y="281520"/>
            <a:ext cx="3446640" cy="62182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Box 2"/>
          <p:cNvSpPr/>
          <p:nvPr/>
        </p:nvSpPr>
        <p:spPr>
          <a:xfrm>
            <a:off x="640080" y="384120"/>
            <a:ext cx="10514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2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Box 3"/>
          <p:cNvSpPr/>
          <p:nvPr/>
        </p:nvSpPr>
        <p:spPr>
          <a:xfrm>
            <a:off x="621720" y="713160"/>
            <a:ext cx="109717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Solution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Rectangle 4"/>
          <p:cNvSpPr/>
          <p:nvPr/>
        </p:nvSpPr>
        <p:spPr>
          <a:xfrm>
            <a:off x="658440" y="1481400"/>
            <a:ext cx="913320" cy="4464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Box 5"/>
          <p:cNvSpPr/>
          <p:nvPr/>
        </p:nvSpPr>
        <p:spPr>
          <a:xfrm>
            <a:off x="640080" y="6382440"/>
            <a:ext cx="10514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Judge link: https://unclone-verified-agent.onrender.com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6"/>
          <p:cNvSpPr/>
          <p:nvPr/>
        </p:nvSpPr>
        <p:spPr>
          <a:xfrm>
            <a:off x="640080" y="1828800"/>
            <a:ext cx="685692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Verified-Agent Badge —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the user side verifies the bank's agent. (Bank's own agent already authenticates us; nobody authenticates it.)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The customer's side runs an AI agent that checks </a:t>
            </a: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every spoken turn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of the call against the enrolled, known voice of the genuine bank assistant.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The badge drives the decision: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green = conversation may proceed to the transaction step; red = transaction </a:t>
            </a: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held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, customer warned, call escalated.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Two scenarios, both live in the prototype: </a:t>
            </a: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Call 1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above-limit (genuine agent → PROCEEDS), </a:t>
            </a: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Call 2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suspicious (imposter hijack → HELD).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Zero customer effort: verification happens automatically on their side of the line.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Picture 7" descr="verdict-green.png"/>
          <p:cNvPicPr/>
          <p:nvPr/>
        </p:nvPicPr>
        <p:blipFill>
          <a:blip r:embed="rId1"/>
          <a:stretch/>
        </p:blipFill>
        <p:spPr>
          <a:xfrm>
            <a:off x="7726680" y="2788920"/>
            <a:ext cx="3930840" cy="131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1"/>
          <p:cNvSpPr/>
          <p:nvPr/>
        </p:nvSpPr>
        <p:spPr>
          <a:xfrm>
            <a:off x="0" y="720"/>
            <a:ext cx="12190680" cy="6856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Box 2"/>
          <p:cNvSpPr/>
          <p:nvPr/>
        </p:nvSpPr>
        <p:spPr>
          <a:xfrm>
            <a:off x="640080" y="384120"/>
            <a:ext cx="10514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3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Box 3"/>
          <p:cNvSpPr/>
          <p:nvPr/>
        </p:nvSpPr>
        <p:spPr>
          <a:xfrm>
            <a:off x="621720" y="713160"/>
            <a:ext cx="109717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DetectifAI (tools disclosed here per rules 5.2)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Rectangle 4"/>
          <p:cNvSpPr/>
          <p:nvPr/>
        </p:nvSpPr>
        <p:spPr>
          <a:xfrm>
            <a:off x="658440" y="1481400"/>
            <a:ext cx="913320" cy="4464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" name="TextBox 5"/>
          <p:cNvSpPr/>
          <p:nvPr/>
        </p:nvSpPr>
        <p:spPr>
          <a:xfrm>
            <a:off x="640080" y="6382440"/>
            <a:ext cx="10514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Judge link: https://unclone-verified-agent.onrender.com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6"/>
          <p:cNvSpPr/>
          <p:nvPr/>
        </p:nvSpPr>
        <p:spPr>
          <a:xfrm>
            <a:off x="169560" y="1656720"/>
            <a:ext cx="6856920" cy="45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Both APIs, one call: </a:t>
            </a:r>
            <a:r>
              <a:rPr lang="en-US" sz="14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DetectifAI POST /v1/speakers/verify with detect_deepfake=true → speaker verification (matches the caller against enrolled bank_agent_1) and deepfake detection (is this speech AI-generated?) per turn.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Where it sits: </a:t>
            </a:r>
            <a:r>
              <a:rPr lang="en-US" sz="14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middle of the call flow — browser call screen → FastAPI backend → DetectifAI → badge verdict → transaction decision. Taken out of the product, the badge has nothing to stand on and the product stops existing.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The decision it drives: </a:t>
            </a:r>
            <a:r>
              <a:rPr lang="en-US" sz="14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match + genuine → approve (PROCEEDS); no_match or synthetic → block (transaction held, warn customer).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Live results from the prototype today: </a:t>
            </a:r>
            <a:r>
              <a:rPr lang="en-US" sz="14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genuine voice → match, similarity 0.987 (thr 0.53), deepfake real 0.008 (thr 0.62); attacker TTS → no_match, 0.151, deepfake synthetic 0.999, per-4s synthetic segments flagged.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Tools used: </a:t>
            </a:r>
            <a:r>
              <a:rPr lang="en-US" sz="14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DetectifAI (verify + deepfake detection) · FastAPI/Python · edge-tts (team-generated attacker voice) · ffmpeg · Render · GitHub · built with an AI coding assistant (Codebuff/Claude Code).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Picture 7" descr="compare-viz.png"/>
          <p:cNvPicPr/>
          <p:nvPr/>
        </p:nvPicPr>
        <p:blipFill>
          <a:blip r:embed="rId1"/>
          <a:stretch/>
        </p:blipFill>
        <p:spPr>
          <a:xfrm>
            <a:off x="6990480" y="2203200"/>
            <a:ext cx="5090760" cy="2088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Box 2"/>
          <p:cNvSpPr/>
          <p:nvPr/>
        </p:nvSpPr>
        <p:spPr>
          <a:xfrm>
            <a:off x="640080" y="384120"/>
            <a:ext cx="10514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4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3"/>
          <p:cNvSpPr/>
          <p:nvPr/>
        </p:nvSpPr>
        <p:spPr>
          <a:xfrm>
            <a:off x="621720" y="713160"/>
            <a:ext cx="109717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Impact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ectangle 4"/>
          <p:cNvSpPr/>
          <p:nvPr/>
        </p:nvSpPr>
        <p:spPr>
          <a:xfrm>
            <a:off x="658440" y="1481400"/>
            <a:ext cx="913320" cy="4464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Box 5"/>
          <p:cNvSpPr/>
          <p:nvPr/>
        </p:nvSpPr>
        <p:spPr>
          <a:xfrm>
            <a:off x="640080" y="6382440"/>
            <a:ext cx="10514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Judge link: https://unclone-verified-agent.onrender.com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Box 6"/>
          <p:cNvSpPr/>
          <p:nvPr/>
        </p:nvSpPr>
        <p:spPr>
          <a:xfrm>
            <a:off x="640080" y="1828800"/>
            <a:ext cx="685692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Who it protects: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every customer on an outbound bank/NBFC/insurer verification call — the exact fraud moment DetectifAI itself was founded on.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What changes: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the imposter call ends </a:t>
            </a: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before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the customer speaks a single secret; the genuine call gets a visible trust signal instead of anxiety.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Measured on the working prototype: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~2.5 s end-to-end per spoken turn; both decisions demonstrated live (approve 0.987 vs hold on 0.999-synthetic clone); no hardware, no customer onboarding beyond voice enrollment (15–60 s).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False-alarm posture: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red never locks the customer out — it steps up to an alternate verified channel (in-app confirmation), so friction is bounded.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7" descr="verdict-red.png"/>
          <p:cNvPicPr/>
          <p:nvPr/>
        </p:nvPicPr>
        <p:blipFill>
          <a:blip r:embed="rId1"/>
          <a:stretch/>
        </p:blipFill>
        <p:spPr>
          <a:xfrm>
            <a:off x="7726680" y="2788920"/>
            <a:ext cx="3930840" cy="1289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Box 2"/>
          <p:cNvSpPr/>
          <p:nvPr/>
        </p:nvSpPr>
        <p:spPr>
          <a:xfrm>
            <a:off x="640080" y="384120"/>
            <a:ext cx="10514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5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Box 3"/>
          <p:cNvSpPr/>
          <p:nvPr/>
        </p:nvSpPr>
        <p:spPr>
          <a:xfrm>
            <a:off x="621720" y="713160"/>
            <a:ext cx="109717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Scale (incl. Day 2 plan)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Rectangle 4"/>
          <p:cNvSpPr/>
          <p:nvPr/>
        </p:nvSpPr>
        <p:spPr>
          <a:xfrm>
            <a:off x="658440" y="1481400"/>
            <a:ext cx="913320" cy="4464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Box 5"/>
          <p:cNvSpPr/>
          <p:nvPr/>
        </p:nvSpPr>
        <p:spPr>
          <a:xfrm>
            <a:off x="640080" y="6382440"/>
            <a:ext cx="10514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Judge link: https://unclone-verified-agent.onrender.com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Box 6"/>
          <p:cNvSpPr/>
          <p:nvPr/>
        </p:nvSpPr>
        <p:spPr>
          <a:xfrm>
            <a:off x="640080" y="1828800"/>
            <a:ext cx="1097172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00"/>
              </a:spcAft>
            </a:pPr>
            <a:r>
              <a:rPr lang="en-US" sz="16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Day 2 plan </a:t>
            </a:r>
            <a:r>
              <a:rPr lang="en-US" sz="16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(nine hours, judge-gap driven):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1. Streaming deepfake check —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feed the live call's audio continuously (DetectifAI's segment scoring already visualised in the UI) instead of per turn; deeper use of the API.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2. Verified-badge handshake —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extend to agent-to-agent: any voice agent presents/enrolls its voice; a protocol-level “verified agent” attestation both directions.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Aft>
                <a:spcPts val="1100"/>
              </a:spcAft>
            </a:pPr>
            <a:r>
              <a:rPr lang="en-US" sz="1500" b="1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3. Phone channel path —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bridge the same check to PSTN/WhatsApp-audio calls (audio in → same API → same badge).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5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Scale: </a:t>
            </a:r>
            <a:r>
              <a:rPr lang="en-US" sz="15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per-turn check costs 50+50 credits and ~2.5 s today — cheap enough to run on every suspicious transaction; enrollment reuses banks' existing voice-consent flows; the badge client is one API wrapper any call surface can embed.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Box 7"/>
          <p:cNvSpPr/>
          <p:nvPr/>
        </p:nvSpPr>
        <p:spPr>
          <a:xfrm>
            <a:off x="640080" y="5715000"/>
            <a:ext cx="10971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Demo link (no login): </a:t>
            </a:r>
            <a:r>
              <a:rPr lang="en-US" sz="17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https://unclone-verified-agent.onrender.com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" name="TextBox 2"/>
          <p:cNvSpPr/>
          <p:nvPr/>
        </p:nvSpPr>
        <p:spPr>
          <a:xfrm>
            <a:off x="640080" y="36576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2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1 · PROBLEM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3"/>
          <p:cNvSpPr/>
          <p:nvPr/>
        </p:nvSpPr>
        <p:spPr>
          <a:xfrm>
            <a:off x="621720" y="67680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3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The phone scam no amount of care can stop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ectangle 4"/>
          <p:cNvSpPr/>
          <p:nvPr/>
        </p:nvSpPr>
        <p:spPr>
          <a:xfrm>
            <a:off x="658440" y="1481400"/>
            <a:ext cx="914040" cy="4536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" name="TextBox 5"/>
          <p:cNvSpPr/>
          <p:nvPr/>
        </p:nvSpPr>
        <p:spPr>
          <a:xfrm>
            <a:off x="640080" y="635508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Try it live — https://unclone-verified-agent.onrender.com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Box 6"/>
          <p:cNvSpPr/>
          <p:nvPr/>
        </p:nvSpPr>
        <p:spPr>
          <a:xfrm>
            <a:off x="640080" y="1920240"/>
            <a:ext cx="1097244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9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Your phone rings. </a:t>
            </a:r>
            <a:r>
              <a:rPr lang="en-IN" sz="19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This is your bank about a Rs 86,499 payment above your limit.</a:t>
            </a:r>
            <a:r>
              <a:rPr lang="en-IN" sz="19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Name right, details right, voice right.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The voice is a </a:t>
            </a: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computer clone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of the bank's agent. You cannot tell — no amount of care on your side helps.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The old guardrails are dead: caller ID is faked, the caller knows everything, and </a:t>
            </a: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they don't need you to tell them anything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— they need you to agree.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Our idea: </a:t>
            </a: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let the customer verify the caller.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Nobody is on the customer's side of the call today. We are.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Box 2"/>
          <p:cNvSpPr/>
          <p:nvPr/>
        </p:nvSpPr>
        <p:spPr>
          <a:xfrm>
            <a:off x="640080" y="36576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2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2 · SOLUTION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Box 3"/>
          <p:cNvSpPr/>
          <p:nvPr/>
        </p:nvSpPr>
        <p:spPr>
          <a:xfrm>
            <a:off x="621720" y="67680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3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A traffic light for the phone call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Rectangle 4"/>
          <p:cNvSpPr/>
          <p:nvPr/>
        </p:nvSpPr>
        <p:spPr>
          <a:xfrm>
            <a:off x="658440" y="1481400"/>
            <a:ext cx="914040" cy="4536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" name="TextBox 5"/>
          <p:cNvSpPr/>
          <p:nvPr/>
        </p:nvSpPr>
        <p:spPr>
          <a:xfrm>
            <a:off x="640080" y="635508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Try it live — https://unclone-verified-agent.onrender.com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6"/>
          <p:cNvSpPr/>
          <p:nvPr/>
        </p:nvSpPr>
        <p:spPr>
          <a:xfrm>
            <a:off x="640080" y="1783080"/>
            <a:ext cx="109724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5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An app on </a:t>
            </a:r>
            <a:r>
              <a:rPr lang="en-IN" sz="155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your</a:t>
            </a:r>
            <a:r>
              <a:rPr lang="en-IN" sz="15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side of the call checks the audio it is given — the demo runs recorded call clips and your live mic through it, every 6 seconds: </a:t>
            </a:r>
            <a:r>
              <a:rPr lang="en-IN" sz="155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is each slice the real enrolled agent, or a machine copying them?</a:t>
            </a:r>
            <a:r>
              <a:rPr lang="en-IN" sz="15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(Capturing the phone line itself is the next version.)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ounded Rectangle 7"/>
          <p:cNvSpPr/>
          <p:nvPr/>
        </p:nvSpPr>
        <p:spPr>
          <a:xfrm>
            <a:off x="685800" y="2971800"/>
            <a:ext cx="3520080" cy="1234080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>
            <a:solidFill>
              <a:srgbClr val="D3D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Oval 8"/>
          <p:cNvSpPr/>
          <p:nvPr/>
        </p:nvSpPr>
        <p:spPr>
          <a:xfrm>
            <a:off x="850320" y="3136320"/>
            <a:ext cx="292320" cy="292320"/>
          </a:xfrm>
          <a:prstGeom prst="ellipse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9"/>
          <p:cNvSpPr/>
          <p:nvPr/>
        </p:nvSpPr>
        <p:spPr>
          <a:xfrm>
            <a:off x="1252800" y="3072240"/>
            <a:ext cx="283428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5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GREEN · GO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Real agent voice, no machine parts. Carry on with the call.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ounded Rectangle 10"/>
          <p:cNvSpPr/>
          <p:nvPr/>
        </p:nvSpPr>
        <p:spPr>
          <a:xfrm>
            <a:off x="4343400" y="2971800"/>
            <a:ext cx="3520080" cy="1234080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>
            <a:solidFill>
              <a:srgbClr val="D3D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Oval 11"/>
          <p:cNvSpPr/>
          <p:nvPr/>
        </p:nvSpPr>
        <p:spPr>
          <a:xfrm>
            <a:off x="4507920" y="3136320"/>
            <a:ext cx="292320" cy="292320"/>
          </a:xfrm>
          <a:prstGeom prst="ellipse">
            <a:avLst/>
          </a:prstGeom>
          <a:solidFill>
            <a:srgbClr val="C886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12"/>
          <p:cNvSpPr/>
          <p:nvPr/>
        </p:nvSpPr>
        <p:spPr>
          <a:xfrm>
            <a:off x="4910400" y="3072240"/>
            <a:ext cx="283428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500" b="1" u="none" strike="noStrike">
                <a:solidFill>
                  <a:srgbClr val="C88600"/>
                </a:solidFill>
                <a:effectLst/>
                <a:uFillTx/>
                <a:latin typeface="Segoe UI"/>
              </a:rPr>
              <a:t>AMBER · DOUBLE-CHECK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Can't be sure. Confirm the payment in the app instead.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13"/>
          <p:cNvSpPr/>
          <p:nvPr/>
        </p:nvSpPr>
        <p:spPr>
          <a:xfrm>
            <a:off x="8001000" y="2971800"/>
            <a:ext cx="3565800" cy="1234080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>
            <a:solidFill>
              <a:srgbClr val="D3D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Oval 14"/>
          <p:cNvSpPr/>
          <p:nvPr/>
        </p:nvSpPr>
        <p:spPr>
          <a:xfrm>
            <a:off x="8165520" y="3136320"/>
            <a:ext cx="292320" cy="292320"/>
          </a:xfrm>
          <a:prstGeom prst="ellipse">
            <a:avLst/>
          </a:prstGeom>
          <a:solidFill>
            <a:srgbClr val="D6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8568000" y="3072240"/>
            <a:ext cx="288000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500" b="1" u="none" strike="noStrike">
                <a:solidFill>
                  <a:srgbClr val="D6394B"/>
                </a:solidFill>
                <a:effectLst/>
                <a:uFillTx/>
                <a:latin typeface="Segoe UI"/>
              </a:rPr>
              <a:t>RED · STOP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A fake was caught. The call is cut, the payment blocked.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6"/>
          <p:cNvSpPr/>
          <p:nvPr/>
        </p:nvSpPr>
        <p:spPr>
          <a:xfrm>
            <a:off x="640080" y="4617720"/>
            <a:ext cx="109724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6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The red light is not a warning — </a:t>
            </a:r>
            <a:r>
              <a:rPr lang="en-IN" sz="16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watch the demo: the audio stops mid-sentence</a:t>
            </a:r>
            <a:r>
              <a:rPr lang="en-IN" sz="16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and the transaction flips to payment blocked.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4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And it works on voices it has never heard: our judges can enrol their own voice and try it live.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640080" y="36576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2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3 · THE ENGINE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621720" y="67680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3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Every attack — and which rule catches it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4"/>
          <p:cNvSpPr/>
          <p:nvPr/>
        </p:nvSpPr>
        <p:spPr>
          <a:xfrm>
            <a:off x="658440" y="1481400"/>
            <a:ext cx="914040" cy="4536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5"/>
          <p:cNvSpPr/>
          <p:nvPr/>
        </p:nvSpPr>
        <p:spPr>
          <a:xfrm>
            <a:off x="640080" y="635508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Try it live — https://unclone-verified-agent.onrender.com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6"/>
          <p:cNvSpPr/>
          <p:nvPr/>
        </p:nvSpPr>
        <p:spPr>
          <a:xfrm>
            <a:off x="640080" y="169164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6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Four checks per 6-second slice: </a:t>
            </a:r>
            <a:r>
              <a:rPr lang="en-IN" sz="16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two AI-model questions</a:t>
            </a:r>
            <a:r>
              <a:rPr lang="en-IN" sz="16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(identity, machine-voice) plus </a:t>
            </a:r>
            <a:r>
              <a:rPr lang="en-IN" sz="16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two app-side checks</a:t>
            </a:r>
            <a:r>
              <a:rPr lang="en-IN" sz="16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(room-tone forensics, replay). Each targets a different failure mode.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7"/>
          <p:cNvSpPr/>
          <p:nvPr/>
        </p:nvSpPr>
        <p:spPr>
          <a:xfrm>
            <a:off x="640080" y="2395800"/>
            <a:ext cx="11201040" cy="383760"/>
          </a:xfrm>
          <a:prstGeom prst="rect">
            <a:avLst/>
          </a:prstGeom>
          <a:solidFill>
            <a:srgbClr val="0F1B2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8"/>
          <p:cNvSpPr/>
          <p:nvPr/>
        </p:nvSpPr>
        <p:spPr>
          <a:xfrm>
            <a:off x="713160" y="2450520"/>
            <a:ext cx="438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#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1307520" y="2450520"/>
            <a:ext cx="3364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WHAT THE ATTACKER DOES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4782240" y="2450520"/>
            <a:ext cx="2998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WHAT THE PIPELINE SEES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1"/>
          <p:cNvSpPr/>
          <p:nvPr/>
        </p:nvSpPr>
        <p:spPr>
          <a:xfrm>
            <a:off x="7891200" y="2450520"/>
            <a:ext cx="2450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WHICH RULE CATCHES IT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2"/>
          <p:cNvSpPr/>
          <p:nvPr/>
        </p:nvSpPr>
        <p:spPr>
          <a:xfrm>
            <a:off x="10451520" y="2450520"/>
            <a:ext cx="1307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00" b="1" u="none" strike="noStrike">
                <a:solidFill>
                  <a:srgbClr val="FFFFFF"/>
                </a:solidFill>
                <a:effectLst/>
                <a:uFillTx/>
                <a:latin typeface="Segoe UI"/>
              </a:rPr>
              <a:t>RESULT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13"/>
          <p:cNvSpPr/>
          <p:nvPr/>
        </p:nvSpPr>
        <p:spPr>
          <a:xfrm>
            <a:off x="640080" y="2797920"/>
            <a:ext cx="11201040" cy="712800"/>
          </a:xfrm>
          <a:prstGeom prst="rect">
            <a:avLst/>
          </a:prstGeom>
          <a:solidFill>
            <a:srgbClr val="F2F6FB"/>
          </a:solidFill>
          <a:ln>
            <a:solidFill>
              <a:srgbClr val="D3D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14"/>
          <p:cNvSpPr/>
          <p:nvPr/>
        </p:nvSpPr>
        <p:spPr>
          <a:xfrm>
            <a:off x="768240" y="29628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2000" b="1" u="none" strike="noStrike">
                <a:solidFill>
                  <a:srgbClr val="D6394B"/>
                </a:solidFill>
                <a:effectLst/>
                <a:uFillTx/>
                <a:latin typeface="Segoe UI"/>
              </a:rPr>
              <a:t>A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5"/>
          <p:cNvSpPr/>
          <p:nvPr/>
        </p:nvSpPr>
        <p:spPr>
          <a:xfrm>
            <a:off x="1307520" y="2843640"/>
            <a:ext cx="33462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Clone of a DIFFERENT person's voice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(cheap TTS — our Call 2)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6"/>
          <p:cNvSpPr/>
          <p:nvPr/>
        </p:nvSpPr>
        <p:spPr>
          <a:xfrm>
            <a:off x="4782240" y="2843640"/>
            <a:ext cx="29804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similarity 0.13 « 0.53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7"/>
          <p:cNvSpPr/>
          <p:nvPr/>
        </p:nvSpPr>
        <p:spPr>
          <a:xfrm>
            <a:off x="7891200" y="2843640"/>
            <a:ext cx="2431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Voice-fingerprint gate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8"/>
          <p:cNvSpPr/>
          <p:nvPr/>
        </p:nvSpPr>
        <p:spPr>
          <a:xfrm>
            <a:off x="10451520" y="2843640"/>
            <a:ext cx="1288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D6394B"/>
                </a:solidFill>
                <a:effectLst/>
                <a:uFillTx/>
                <a:latin typeface="Segoe UI"/>
              </a:rPr>
              <a:t>HOLD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9"/>
          <p:cNvSpPr/>
          <p:nvPr/>
        </p:nvSpPr>
        <p:spPr>
          <a:xfrm>
            <a:off x="640080" y="3547800"/>
            <a:ext cx="11201040" cy="712800"/>
          </a:xfrm>
          <a:prstGeom prst="rect">
            <a:avLst/>
          </a:prstGeom>
          <a:solidFill>
            <a:srgbClr val="E7EEF6"/>
          </a:solidFill>
          <a:ln>
            <a:solidFill>
              <a:srgbClr val="D3D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20"/>
          <p:cNvSpPr/>
          <p:nvPr/>
        </p:nvSpPr>
        <p:spPr>
          <a:xfrm>
            <a:off x="768240" y="371232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2000" b="1" u="none" strike="noStrike">
                <a:solidFill>
                  <a:srgbClr val="D6394B"/>
                </a:solidFill>
                <a:effectLst/>
                <a:uFillTx/>
                <a:latin typeface="Segoe UI"/>
              </a:rPr>
              <a:t>B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1"/>
          <p:cNvSpPr/>
          <p:nvPr/>
        </p:nvSpPr>
        <p:spPr>
          <a:xfrm>
            <a:off x="1307520" y="3593520"/>
            <a:ext cx="33462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Same-agent-timbre clone that fools identity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(0.77 — our Call 3)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22"/>
          <p:cNvSpPr/>
          <p:nvPr/>
        </p:nvSpPr>
        <p:spPr>
          <a:xfrm>
            <a:off x="4782240" y="3593520"/>
            <a:ext cx="29804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Identity PASSES, average says "real"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but one 4-s segment scores 0.99 synthetic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23"/>
          <p:cNvSpPr/>
          <p:nvPr/>
        </p:nvSpPr>
        <p:spPr>
          <a:xfrm>
            <a:off x="7891200" y="3593520"/>
            <a:ext cx="2431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Hot-segment rule (any slice ≥ 0.90)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4"/>
          <p:cNvSpPr/>
          <p:nvPr/>
        </p:nvSpPr>
        <p:spPr>
          <a:xfrm>
            <a:off x="10451520" y="3593520"/>
            <a:ext cx="1288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D6394B"/>
                </a:solidFill>
                <a:effectLst/>
                <a:uFillTx/>
                <a:latin typeface="Segoe UI"/>
              </a:rPr>
              <a:t>HOLD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D6394B"/>
                </a:solidFill>
                <a:effectLst/>
                <a:uFillTx/>
                <a:latin typeface="Segoe UI"/>
              </a:rPr>
              <a:t>(worst segment, not average)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25"/>
          <p:cNvSpPr/>
          <p:nvPr/>
        </p:nvSpPr>
        <p:spPr>
          <a:xfrm>
            <a:off x="640080" y="4297680"/>
            <a:ext cx="11201040" cy="712800"/>
          </a:xfrm>
          <a:prstGeom prst="rect">
            <a:avLst/>
          </a:prstGeom>
          <a:solidFill>
            <a:srgbClr val="F2F6FB"/>
          </a:solidFill>
          <a:ln>
            <a:solidFill>
              <a:srgbClr val="D3D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26"/>
          <p:cNvSpPr/>
          <p:nvPr/>
        </p:nvSpPr>
        <p:spPr>
          <a:xfrm>
            <a:off x="768240" y="44622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2000" b="1" u="none" strike="noStrike">
                <a:solidFill>
                  <a:srgbClr val="C88600"/>
                </a:solidFill>
                <a:effectLst/>
                <a:uFillTx/>
                <a:latin typeface="Segoe UI"/>
              </a:rPr>
              <a:t>C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27"/>
          <p:cNvSpPr/>
          <p:nvPr/>
        </p:nvSpPr>
        <p:spPr>
          <a:xfrm>
            <a:off x="1307520" y="4343400"/>
            <a:ext cx="33462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Clone that also fools the deepfake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(newer engine, unseen in training)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8"/>
          <p:cNvSpPr/>
          <p:nvPr/>
        </p:nvSpPr>
        <p:spPr>
          <a:xfrm>
            <a:off x="4782240" y="4343400"/>
            <a:ext cx="29804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Deepfake score low, similarity high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9"/>
          <p:cNvSpPr/>
          <p:nvPr/>
        </p:nvSpPr>
        <p:spPr>
          <a:xfrm>
            <a:off x="7891200" y="4343400"/>
            <a:ext cx="2431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Forensics clue (app-side): a digital render has no room tone → artifact ≥ 0.85 (PCM WAV only)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0"/>
          <p:cNvSpPr/>
          <p:nvPr/>
        </p:nvSpPr>
        <p:spPr>
          <a:xfrm>
            <a:off x="10451520" y="4343400"/>
            <a:ext cx="1288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C88600"/>
                </a:solidFill>
                <a:effectLst/>
                <a:uFillTx/>
                <a:latin typeface="Segoe UI"/>
              </a:rPr>
              <a:t>STEP-UP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C88600"/>
                </a:solidFill>
                <a:effectLst/>
                <a:uFillTx/>
                <a:latin typeface="Segoe UI"/>
              </a:rPr>
              <a:t>(never auto-approve)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31"/>
          <p:cNvSpPr/>
          <p:nvPr/>
        </p:nvSpPr>
        <p:spPr>
          <a:xfrm>
            <a:off x="640080" y="5047560"/>
            <a:ext cx="11201040" cy="712800"/>
          </a:xfrm>
          <a:prstGeom prst="rect">
            <a:avLst/>
          </a:prstGeom>
          <a:solidFill>
            <a:srgbClr val="E7EEF6"/>
          </a:solidFill>
          <a:ln>
            <a:solidFill>
              <a:srgbClr val="D3D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32"/>
          <p:cNvSpPr/>
          <p:nvPr/>
        </p:nvSpPr>
        <p:spPr>
          <a:xfrm>
            <a:off x="768240" y="521208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2000" b="1" u="none" strike="noStrike">
                <a:solidFill>
                  <a:srgbClr val="D6394B"/>
                </a:solidFill>
                <a:effectLst/>
                <a:uFillTx/>
                <a:latin typeface="Segoe UI"/>
              </a:rPr>
              <a:t>D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33"/>
          <p:cNvSpPr/>
          <p:nvPr/>
        </p:nvSpPr>
        <p:spPr>
          <a:xfrm>
            <a:off x="1307520" y="5093280"/>
            <a:ext cx="33462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Replay of the agent's REAL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recorded audio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34"/>
          <p:cNvSpPr/>
          <p:nvPr/>
        </p:nvSpPr>
        <p:spPr>
          <a:xfrm>
            <a:off x="4782240" y="5093280"/>
            <a:ext cx="29804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Everything passes — nothing new to detect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35"/>
          <p:cNvSpPr/>
          <p:nvPr/>
        </p:nvSpPr>
        <p:spPr>
          <a:xfrm>
            <a:off x="7891200" y="5093280"/>
            <a:ext cx="2431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0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Content fingerprint: identical audio re-sent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36"/>
          <p:cNvSpPr/>
          <p:nvPr/>
        </p:nvSpPr>
        <p:spPr>
          <a:xfrm>
            <a:off x="10451520" y="5093280"/>
            <a:ext cx="1288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1" u="none" strike="noStrike">
                <a:solidFill>
                  <a:srgbClr val="D6394B"/>
                </a:solidFill>
                <a:effectLst/>
                <a:uFillTx/>
                <a:latin typeface="Segoe UI"/>
              </a:rPr>
              <a:t>HOLD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7"/>
          <p:cNvSpPr/>
          <p:nvPr/>
        </p:nvSpPr>
        <p:spPr>
          <a:xfrm>
            <a:off x="640080" y="5843160"/>
            <a:ext cx="11201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25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Layer principle:</a:t>
            </a:r>
            <a:r>
              <a:rPr lang="en-IN" sz="125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each check targets a failure mode the others miss — identity catches "wrong voice"; the segment check catches "right voice, machine words"; forensics adds a best-effort room-tone backstop for new unseen engines; replay catches "it's just the recording".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40080" y="36576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2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4 · IMPACT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"/>
          <p:cNvSpPr/>
          <p:nvPr/>
        </p:nvSpPr>
        <p:spPr>
          <a:xfrm>
            <a:off x="621720" y="67680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3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What one caught call is worth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4"/>
          <p:cNvSpPr/>
          <p:nvPr/>
        </p:nvSpPr>
        <p:spPr>
          <a:xfrm>
            <a:off x="658440" y="1481400"/>
            <a:ext cx="914040" cy="4536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640080" y="635508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Try it live — https://unclone-verified-agent.onrender.com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6"/>
          <p:cNvSpPr/>
          <p:nvPr/>
        </p:nvSpPr>
        <p:spPr>
          <a:xfrm>
            <a:off x="640080" y="1965960"/>
            <a:ext cx="630900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8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Median loss per imposter scam:  </a:t>
            </a:r>
            <a:r>
              <a:rPr lang="en-IN" sz="18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$800 (FTC 2024 Data Book). Bank-wire scams skew higher — this is the conservative anchor.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8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Cost to check a risky call:  </a:t>
            </a:r>
            <a:r>
              <a:rPr lang="en-IN" sz="18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about 45 cents — spent only on flagged calls, never on all traffic.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At one big bank scale:  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about $9.3 M/yr of prevented losses. That's the five-frame model: 1.56 M risky calls x 1.33 % scams x $800 x 80 % caught x 70 % stopped.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False alarms are cheap:  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worst case, the customer confirms in the app. Nobody is ever locked out.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7"/>
          <p:cNvSpPr/>
          <p:nvPr/>
        </p:nvSpPr>
        <p:spPr>
          <a:xfrm>
            <a:off x="7406640" y="2331720"/>
            <a:ext cx="4114440" cy="2377080"/>
          </a:xfrm>
          <a:prstGeom prst="rect">
            <a:avLst/>
          </a:prstGeom>
          <a:solidFill>
            <a:srgbClr val="F2F6FB"/>
          </a:solidFill>
          <a:ln>
            <a:solidFill>
              <a:srgbClr val="D3D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8"/>
          <p:cNvSpPr/>
          <p:nvPr/>
        </p:nvSpPr>
        <p:spPr>
          <a:xfrm>
            <a:off x="7680960" y="2560320"/>
            <a:ext cx="35658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56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~13x</a:t>
            </a:r>
            <a:endParaRPr lang="en-IN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IN" sz="13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return on the checking cost: about $700 K/yr of checks prevents ~$9.3 M of scams — roughly $42 per fraud caught, $60 per prevented, against an $800 median loss.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9"/>
          <p:cNvSpPr/>
          <p:nvPr/>
        </p:nvSpPr>
        <p:spPr>
          <a:xfrm>
            <a:off x="7589520" y="5029200"/>
            <a:ext cx="4023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25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Latency: p50 ~ 0.6 s per slice (p95 ~ 2.6 s) on the deployed build — inside the decision window.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2"/>
          <p:cNvSpPr/>
          <p:nvPr/>
        </p:nvSpPr>
        <p:spPr>
          <a:xfrm>
            <a:off x="640080" y="36576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200" b="1" u="none" strike="noStrike">
                <a:solidFill>
                  <a:srgbClr val="0E9F6E"/>
                </a:solidFill>
                <a:effectLst/>
                <a:uFillTx/>
                <a:latin typeface="Segoe UI"/>
              </a:rPr>
              <a:t>SLIDE 5 · SCALE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621720" y="67680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34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Banks pay for it — and starting needs zero data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4"/>
          <p:cNvSpPr/>
          <p:nvPr/>
        </p:nvSpPr>
        <p:spPr>
          <a:xfrm>
            <a:off x="658440" y="1481400"/>
            <a:ext cx="914040" cy="45360"/>
          </a:xfrm>
          <a:prstGeom prst="rect">
            <a:avLst/>
          </a:prstGeom>
          <a:solidFill>
            <a:srgbClr val="0E9F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pPr/>
            <a:endParaRPr lang="en-IN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5"/>
          <p:cNvSpPr/>
          <p:nvPr/>
        </p:nvSpPr>
        <p:spPr>
          <a:xfrm>
            <a:off x="640080" y="635508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IN" sz="1100" b="0" u="none" strike="noStrike">
                <a:solidFill>
                  <a:srgbClr val="64748B"/>
                </a:solidFill>
                <a:effectLst/>
                <a:uFillTx/>
                <a:latin typeface="Segoe UI"/>
              </a:rPr>
              <a:t>Try it live — https://unclone-verified-agent.onrender.com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6"/>
          <p:cNvSpPr/>
          <p:nvPr/>
        </p:nvSpPr>
        <p:spPr>
          <a:xfrm>
            <a:off x="640080" y="1874520"/>
            <a:ext cx="10972440" cy="42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Who pays:  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the bank's fraud team. A bank can't stop a </a:t>
            </a: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perfect clone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from inside its own call centre — the clone is its own agent's voice. Only the </a:t>
            </a: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customer's side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can.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Starting takes a day, not a dataset:  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banks already record their agents for compliance. Take </a:t>
            </a: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15 to 60 s of that recording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, enrol it — done. </a:t>
            </a: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We train nothing.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The honest scoreboard:  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live now — 3 attacked calls + your own voice. Attacks are </a:t>
            </a: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held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 (red, call cut); errors and missing evidence fail safe (amber step-up) — neither ever auto-approves. Next — the phone-network version. We say which is which.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1" u="none" strike="noStrike">
                <a:solidFill>
                  <a:srgbClr val="0F1B2D"/>
                </a:solidFill>
                <a:effectLst/>
                <a:uFillTx/>
                <a:latin typeface="Segoe UI"/>
              </a:rPr>
              <a:t>First pilot:  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6 weeks, flagged calls only. Success = one caught scam with the full evidence log shown — then scale.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</a:rPr>
              <a:t>Github Link : </a:t>
            </a:r>
            <a:r>
              <a:rPr lang="en-IN" sz="1700" b="0" u="none" strike="noStrike">
                <a:solidFill>
                  <a:srgbClr val="33415C"/>
                </a:solidFill>
                <a:effectLst/>
                <a:uFillTx/>
                <a:latin typeface="Segoe UI"/>
                <a:hlinkClick r:id="rId1"/>
              </a:rPr>
              <a:t>https://github.com/Lion4467cat/verified-agent-badge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LibreOffice/26.8.1.1$Linux_X86_64 LibreOffice_project/0fee9b7af4ed8823fb6ed0b53e2a3e73b2087f4b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2026-10-19T08:28:44Z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